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50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8196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Genesis addresses a practical problem: claims spread faster than careful verification. The system is designed as an evidence-oriented workflow, not a single black-box label. It combines local machine learning with source retrieval, structured reasoning, and a user-facing explanation.</a:t>
            </a:r>
          </a:p>
          <a:p>
            <a:endParaRPr/>
          </a:p>
          <a:p>
            <a:r>
              <a:t>Emphasize: the project is implemented as a full-stack system—React in the browser, FastAPI in Python, a DistilBERT artifact for local inference, retrieval providers, agent stages, and SQLite persistence.</a:t>
            </a:r>
          </a:p>
          <a:p>
            <a:endParaRPr/>
          </a:p>
          <a:p>
            <a:r>
              <a:t>Likely viva questions: Why not use only an LLM? Answer: the classifier and retrieval provide separate signals, while the pipeline exposes evidence and reasoning. Is it a perfect truth engine? No; provider coverage, source quality, and model limitations remain important.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core product idea is a chain of accountable steps. The input is not immediately turned into a verdict. Genesis first gathers context, then reasons over evidence, and finally returns both a decision and the material used to support it.</a:t>
            </a:r>
          </a:p>
          <a:p>
            <a:endParaRPr/>
          </a:p>
          <a:p>
            <a:r>
              <a:t>Emphasize: the output is structured. The frontend receives evidence, arguments, confidence, reasoning, pipeline stages, and the model signal rather than only a label.</a:t>
            </a:r>
          </a:p>
          <a:p>
            <a:endParaRPr/>
          </a:p>
          <a:p>
            <a:r>
              <a:t>Likely question: What happens when evidence is unavailable? The retriever can fall through providers or use the local fallback path, and the judge can return UNVERIFIED or INSUFFICIENT_DATA rather than pretending certainty.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is the runtime architecture. The browser calls a FastAPI composition root. The backend combines the local classifier, claim orchestration, retrieval providers, debate stages, and storage. Optional LLM providers are behind feature flags and fallback logic.</a:t>
            </a:r>
          </a:p>
          <a:p>
            <a:endParaRPr/>
          </a:p>
          <a:p>
            <a:r>
              <a:t>Emphasize: Neo4j and advanced FAISS retrieval exist in the repository but are disabled by the active defaults. That distinction matters when describing the project accurately.</a:t>
            </a:r>
          </a:p>
          <a:p>
            <a:endParaRPr/>
          </a:p>
          <a:p>
            <a:r>
              <a:t>Likely question: Where is the main integration point? backend/main.py, especially verify_claim(), startup configuration, and the route definitions.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stack is deliberately modular. React handles the investigation workspace, FastAPI owns the API and orchestration, PyTorch and Transformers serve the local classifier, and retrieval/LLM providers contribute fresh context and optional reasoning.</a:t>
            </a:r>
          </a:p>
          <a:p>
            <a:endParaRPr/>
          </a:p>
          <a:p>
            <a:r>
              <a:t>Emphasize: the dependency list is not a claim that every optional integration is active in every run. The defaults use minimal retrieval and deterministic agent logic unless feature flags are enabled.</a:t>
            </a:r>
          </a:p>
          <a:p>
            <a:endParaRPr/>
          </a:p>
          <a:p>
            <a:r>
              <a:t>Likely question: Why keep both FAISS and SQLite? SQLite stores application records; FAISS is an in-memory vector search abstraction for the advanced retrieval path.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is the most important technical slide. Genesis does not collapse all intelligence into one model. It validates and decomposes the claim, retrieves sources, ranks them, classifies support and contradiction, runs prosecutor and defender roles, then lets the judge and verdict hardening produce the final response.</a:t>
            </a:r>
          </a:p>
          <a:p>
            <a:endParaRPr/>
          </a:p>
          <a:p>
            <a:r>
              <a:t>Emphasize: the local classifier is advisory. It is not the sole decision-maker and a model failure is designed to be non-fatal.</a:t>
            </a:r>
          </a:p>
          <a:p>
            <a:endParaRPr/>
          </a:p>
          <a:p>
            <a:r>
              <a:t>Likely question: What is RAG here? Retrieval-Augmented Generation means evidence is gathered first and then supplied as context to reasoning stages; the source records remain part of the result.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Genesis is more than a model endpoint. The active product includes a claim workspace, evidence cards, confidence display, staged progress, agent reasoning, history, authentication, statistics, and PDF export.</a:t>
            </a:r>
          </a:p>
          <a:p>
            <a:endParaRPr/>
          </a:p>
          <a:p>
            <a:r>
              <a:t>Emphasize: the list deliberately avoids unsupported claims such as streaming verification, a production browser extension, or an active knowledge graph. Those are future work, not current features.</a:t>
            </a:r>
          </a:p>
          <a:p>
            <a:endParaRPr/>
          </a:p>
          <a:p>
            <a:r>
              <a:t>Likely question: Are bookmarks complete? The database has a bookmarked field, but the active route surface should be treated as the source of truth for supported user actions.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Genesis uses several distinct AI techniques. DistilBERT is trained for binary fake-news classification. RAG brings in current evidence. Optional LLM providers can reason over structured context. Deterministic agents and rules provide predictable fallbacks and post-processing.</a:t>
            </a:r>
          </a:p>
          <a:p>
            <a:endParaRPr/>
          </a:p>
          <a:p>
            <a:r>
              <a:t>Emphasize limitations: WELFake is not a complete representation of current events, provider responses can be empty or stale, and LLM output must be constrained by retrieved evidence.</a:t>
            </a:r>
          </a:p>
          <a:p>
            <a:endParaRPr/>
          </a:p>
          <a:p>
            <a:r>
              <a:t>Likely question: Why include rules if there is a neural model? Rules improve determinism for known cases and help validate or harden outputs, but they also create maintenance debt and should be audited.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is the live demo narrative. The user clicks Verify claim. React enters loading state and Axios posts the claim. FastAPI obtains the singleton model signal, executes the graph and retrieval path, then returns a structured JSON payload. React clears loading in finally and renders the result.</a:t>
            </a:r>
          </a:p>
          <a:p>
            <a:endParaRPr/>
          </a:p>
          <a:p>
            <a:r>
              <a:t>Emphasize: first requests can be slower because model and embedding resources are lazy-loaded, while external search and optional LLM calls add latency.</a:t>
            </a:r>
          </a:p>
          <a:p>
            <a:endParaRPr/>
          </a:p>
          <a:p>
            <a:r>
              <a:t>Likely question: How is failure handled? Model errors can be non-fatal; provider errors can fall through; FastAPI validation produces 4xx responses; the frontend surfaces errors and always clears the loading state.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This mapping is based on actual modules rather than generic AI vocabulary. CO1 is supported by the analyzer, prosecutor, defender, judge, and graph runner. CO2 is represented by multiple search providers and ranking. CO3 is visible in the typed state, evidence records, ORM schema, and JSON context. CO4 is visible in confidence, credibility, disagreement, and conflicting evidence handling. CO5 is supported by the WELFake/DistilBERT training and inference code plus optional LLM integration.</a:t>
            </a:r>
          </a:p>
          <a:p>
            <a:endParaRPr/>
          </a:p>
          <a:p>
            <a:r>
              <a:t>Likely question: Is every search strategy active by default? No. The code includes minimal and advanced paths, and active defaults disable some advanced features.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roadmap is intentionally grounded in observed gaps. The first priorities are authentication reliability, ownership checks, deterministic database paths, provider mocks, and contract tests. Then the system can improve retrieval evaluation, model calibration, async performance, frontend bundle size, and deployment.</a:t>
            </a:r>
          </a:p>
          <a:p>
            <a:endParaRPr/>
          </a:p>
          <a:p>
            <a:r>
              <a:t>Emphasize: multilingual support, browser extension, mobile, streaming, and knowledge graph expansion are future directions—not current features.</a:t>
            </a:r>
          </a:p>
          <a:p>
            <a:endParaRPr/>
          </a:p>
          <a:p>
            <a:r>
              <a:t>Likely question: Which improvement has the highest impact? Reliable auth and authorization, followed by evidence evaluation and reproducible tests.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Genesis brings together the major ideas in an applied AI system: a real frontend, a real backend, a locally loaded classifier, retrieval providers, structured agent stages, persistence, authentication, and explainable output.</a:t>
            </a:r>
          </a:p>
          <a:p>
            <a:endParaRPr/>
          </a:p>
          <a:p>
            <a:r>
              <a:t>Close with the impact: the system does not promise perfect truth; it gives users a more inspectable path from claim to evidence to confidence.</a:t>
            </a:r>
          </a:p>
          <a:p>
            <a:endParaRPr/>
          </a:p>
          <a:p>
            <a:r>
              <a:t>Likely final questions: What would you improve first? Authentication reliability and test coverage. What is the strongest technical learning? Integrating model inference, retrieval, API design, stateful UI, and operational configuration into one coherent product.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549640" y="182880"/>
            <a:ext cx="3474720" cy="109728"/>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006840" y="502920"/>
            <a:ext cx="24688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464040" y="749808"/>
            <a:ext cx="1920240" cy="5486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594360"/>
            <a:ext cx="10789920" cy="365760"/>
          </a:xfrm>
          <a:prstGeom prst="rect">
            <a:avLst/>
          </a:prstGeom>
          <a:noFill/>
        </p:spPr>
        <p:txBody>
          <a:bodyPr wrap="square" lIns="36576" tIns="36576" rIns="36576" bIns="36576" anchor="t">
            <a:spAutoFit/>
          </a:bodyPr>
          <a:lstStyle/>
          <a:p>
            <a:pPr algn="l"/>
            <a:r>
              <a:rPr sz="1200" b="1">
                <a:solidFill>
                  <a:srgbClr val="D4A017"/>
                </a:solidFill>
                <a:latin typeface="Aptos"/>
              </a:rPr>
              <a:t>GENESIS</a:t>
            </a:r>
          </a:p>
        </p:txBody>
      </p:sp>
      <p:sp>
        <p:nvSpPr>
          <p:cNvPr id="7" name="TextBox 6"/>
          <p:cNvSpPr txBox="1"/>
          <p:nvPr/>
        </p:nvSpPr>
        <p:spPr>
          <a:xfrm>
            <a:off x="640080" y="1234440"/>
            <a:ext cx="10241280" cy="1188720"/>
          </a:xfrm>
          <a:prstGeom prst="rect">
            <a:avLst/>
          </a:prstGeom>
          <a:noFill/>
        </p:spPr>
        <p:txBody>
          <a:bodyPr wrap="square" lIns="36576" tIns="36576" rIns="36576" bIns="36576" anchor="t">
            <a:spAutoFit/>
          </a:bodyPr>
          <a:lstStyle/>
          <a:p>
            <a:pPr algn="l"/>
            <a:r>
              <a:rPr sz="3400" b="1">
                <a:solidFill>
                  <a:srgbClr val="FFFFFF"/>
                </a:solidFill>
                <a:latin typeface="Aptos Display"/>
              </a:rPr>
              <a:t>AI-Powered Fake News
&amp; Claim Verification System</a:t>
            </a:r>
          </a:p>
        </p:txBody>
      </p:sp>
      <p:sp>
        <p:nvSpPr>
          <p:cNvPr id="8" name="TextBox 7"/>
          <p:cNvSpPr txBox="1"/>
          <p:nvPr/>
        </p:nvSpPr>
        <p:spPr>
          <a:xfrm>
            <a:off x="658368" y="2788920"/>
            <a:ext cx="6400800" cy="640080"/>
          </a:xfrm>
          <a:prstGeom prst="rect">
            <a:avLst/>
          </a:prstGeom>
          <a:noFill/>
        </p:spPr>
        <p:txBody>
          <a:bodyPr wrap="square" lIns="36576" tIns="36576" rIns="36576" bIns="36576" anchor="t">
            <a:spAutoFit/>
          </a:bodyPr>
          <a:lstStyle/>
          <a:p>
            <a:pPr algn="l"/>
            <a:r>
              <a:rPr sz="1700" b="0">
                <a:solidFill>
                  <a:srgbClr val="D2DCEB"/>
                </a:solidFill>
                <a:latin typeface="Aptos"/>
              </a:rPr>
              <a:t>A transparent verification workspace that connects evidence retrieval, machine learning, reasoning agents, and explainable verdicts.</a:t>
            </a:r>
          </a:p>
        </p:txBody>
      </p:sp>
      <p:sp>
        <p:nvSpPr>
          <p:cNvPr id="9" name="Oval 8"/>
          <p:cNvSpPr/>
          <p:nvPr/>
        </p:nvSpPr>
        <p:spPr>
          <a:xfrm>
            <a:off x="685800" y="4160520"/>
            <a:ext cx="475488" cy="47548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4178807"/>
            <a:ext cx="475488" cy="457200"/>
          </a:xfrm>
          <a:prstGeom prst="rect">
            <a:avLst/>
          </a:prstGeom>
          <a:noFill/>
        </p:spPr>
        <p:txBody>
          <a:bodyPr wrap="square" lIns="36576" tIns="36576" rIns="36576" bIns="36576" anchor="ctr">
            <a:spAutoFit/>
          </a:bodyPr>
          <a:lstStyle/>
          <a:p>
            <a:pPr algn="ctr"/>
            <a:r>
              <a:rPr sz="1000" b="1">
                <a:solidFill>
                  <a:srgbClr val="0F172A"/>
                </a:solidFill>
                <a:latin typeface="Aptos"/>
              </a:rPr>
              <a:t>01</a:t>
            </a:r>
          </a:p>
        </p:txBody>
      </p:sp>
      <p:sp>
        <p:nvSpPr>
          <p:cNvPr id="11" name="TextBox 10"/>
          <p:cNvSpPr txBox="1"/>
          <p:nvPr/>
        </p:nvSpPr>
        <p:spPr>
          <a:xfrm>
            <a:off x="1307592" y="4187952"/>
            <a:ext cx="1325880" cy="219456"/>
          </a:xfrm>
          <a:prstGeom prst="rect">
            <a:avLst/>
          </a:prstGeom>
          <a:noFill/>
        </p:spPr>
        <p:txBody>
          <a:bodyPr wrap="square" lIns="36576" tIns="36576" rIns="36576" bIns="36576" anchor="t">
            <a:spAutoFit/>
          </a:bodyPr>
          <a:lstStyle/>
          <a:p>
            <a:pPr algn="l"/>
            <a:r>
              <a:rPr sz="1200" b="1">
                <a:solidFill>
                  <a:srgbClr val="FFFFFF"/>
                </a:solidFill>
                <a:latin typeface="Aptos"/>
              </a:rPr>
              <a:t>Fake news</a:t>
            </a:r>
          </a:p>
        </p:txBody>
      </p:sp>
      <p:cxnSp>
        <p:nvCxnSpPr>
          <p:cNvPr id="12" name="Connector 11"/>
          <p:cNvCxnSpPr/>
          <p:nvPr/>
        </p:nvCxnSpPr>
        <p:spPr>
          <a:xfrm>
            <a:off x="2377440" y="4407408"/>
            <a:ext cx="301752" cy="0"/>
          </a:xfrm>
          <a:prstGeom prst="line">
            <a:avLst/>
          </a:prstGeom>
          <a:ln w="19050">
            <a:solidFill>
              <a:srgbClr val="5C709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834640" y="4160520"/>
            <a:ext cx="475488" cy="47548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34640" y="4178807"/>
            <a:ext cx="475488" cy="457200"/>
          </a:xfrm>
          <a:prstGeom prst="rect">
            <a:avLst/>
          </a:prstGeom>
          <a:noFill/>
        </p:spPr>
        <p:txBody>
          <a:bodyPr wrap="square" lIns="36576" tIns="36576" rIns="36576" bIns="36576" anchor="ctr">
            <a:spAutoFit/>
          </a:bodyPr>
          <a:lstStyle/>
          <a:p>
            <a:pPr algn="ctr"/>
            <a:r>
              <a:rPr sz="1000" b="1">
                <a:solidFill>
                  <a:srgbClr val="0F172A"/>
                </a:solidFill>
                <a:latin typeface="Aptos"/>
              </a:rPr>
              <a:t>02</a:t>
            </a:r>
          </a:p>
        </p:txBody>
      </p:sp>
      <p:sp>
        <p:nvSpPr>
          <p:cNvPr id="15" name="TextBox 14"/>
          <p:cNvSpPr txBox="1"/>
          <p:nvPr/>
        </p:nvSpPr>
        <p:spPr>
          <a:xfrm>
            <a:off x="3456432" y="4187952"/>
            <a:ext cx="1325880" cy="219456"/>
          </a:xfrm>
          <a:prstGeom prst="rect">
            <a:avLst/>
          </a:prstGeom>
          <a:noFill/>
        </p:spPr>
        <p:txBody>
          <a:bodyPr wrap="square" lIns="36576" tIns="36576" rIns="36576" bIns="36576" anchor="t">
            <a:spAutoFit/>
          </a:bodyPr>
          <a:lstStyle/>
          <a:p>
            <a:pPr algn="l"/>
            <a:r>
              <a:rPr sz="1200" b="1">
                <a:solidFill>
                  <a:srgbClr val="FFFFFF"/>
                </a:solidFill>
                <a:latin typeface="Aptos"/>
              </a:rPr>
              <a:t>Verification</a:t>
            </a:r>
          </a:p>
        </p:txBody>
      </p:sp>
      <p:cxnSp>
        <p:nvCxnSpPr>
          <p:cNvPr id="16" name="Connector 15"/>
          <p:cNvCxnSpPr/>
          <p:nvPr/>
        </p:nvCxnSpPr>
        <p:spPr>
          <a:xfrm>
            <a:off x="4526280" y="4407408"/>
            <a:ext cx="301752" cy="0"/>
          </a:xfrm>
          <a:prstGeom prst="line">
            <a:avLst/>
          </a:prstGeom>
          <a:ln w="19050">
            <a:solidFill>
              <a:srgbClr val="5C7096"/>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4983480" y="4160520"/>
            <a:ext cx="475488" cy="47548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83480" y="4178807"/>
            <a:ext cx="475488" cy="457200"/>
          </a:xfrm>
          <a:prstGeom prst="rect">
            <a:avLst/>
          </a:prstGeom>
          <a:noFill/>
        </p:spPr>
        <p:txBody>
          <a:bodyPr wrap="square" lIns="36576" tIns="36576" rIns="36576" bIns="36576" anchor="ctr">
            <a:spAutoFit/>
          </a:bodyPr>
          <a:lstStyle/>
          <a:p>
            <a:pPr algn="ctr"/>
            <a:r>
              <a:rPr sz="1000" b="1">
                <a:solidFill>
                  <a:srgbClr val="0F172A"/>
                </a:solidFill>
                <a:latin typeface="Aptos"/>
              </a:rPr>
              <a:t>03</a:t>
            </a:r>
          </a:p>
        </p:txBody>
      </p:sp>
      <p:sp>
        <p:nvSpPr>
          <p:cNvPr id="19" name="TextBox 18"/>
          <p:cNvSpPr txBox="1"/>
          <p:nvPr/>
        </p:nvSpPr>
        <p:spPr>
          <a:xfrm>
            <a:off x="5605272" y="4187952"/>
            <a:ext cx="1325880" cy="219456"/>
          </a:xfrm>
          <a:prstGeom prst="rect">
            <a:avLst/>
          </a:prstGeom>
          <a:noFill/>
        </p:spPr>
        <p:txBody>
          <a:bodyPr wrap="square" lIns="36576" tIns="36576" rIns="36576" bIns="36576" anchor="t">
            <a:spAutoFit/>
          </a:bodyPr>
          <a:lstStyle/>
          <a:p>
            <a:pPr algn="l"/>
            <a:r>
              <a:rPr sz="1200" b="1">
                <a:solidFill>
                  <a:srgbClr val="FFFFFF"/>
                </a:solidFill>
                <a:latin typeface="Aptos"/>
              </a:rPr>
              <a:t>Evidence</a:t>
            </a:r>
          </a:p>
        </p:txBody>
      </p:sp>
      <p:cxnSp>
        <p:nvCxnSpPr>
          <p:cNvPr id="20" name="Connector 19"/>
          <p:cNvCxnSpPr/>
          <p:nvPr/>
        </p:nvCxnSpPr>
        <p:spPr>
          <a:xfrm>
            <a:off x="6675120" y="4407408"/>
            <a:ext cx="301752" cy="0"/>
          </a:xfrm>
          <a:prstGeom prst="line">
            <a:avLst/>
          </a:prstGeom>
          <a:ln w="19050">
            <a:solidFill>
              <a:srgbClr val="5C7096"/>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132320" y="4160520"/>
            <a:ext cx="475488" cy="47548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0" y="4178807"/>
            <a:ext cx="475488" cy="457200"/>
          </a:xfrm>
          <a:prstGeom prst="rect">
            <a:avLst/>
          </a:prstGeom>
          <a:noFill/>
        </p:spPr>
        <p:txBody>
          <a:bodyPr wrap="square" lIns="36576" tIns="36576" rIns="36576" bIns="36576" anchor="ctr">
            <a:spAutoFit/>
          </a:bodyPr>
          <a:lstStyle/>
          <a:p>
            <a:pPr algn="ctr"/>
            <a:r>
              <a:rPr sz="1000" b="1">
                <a:solidFill>
                  <a:srgbClr val="0F172A"/>
                </a:solidFill>
                <a:latin typeface="Aptos"/>
              </a:rPr>
              <a:t>04</a:t>
            </a:r>
          </a:p>
        </p:txBody>
      </p:sp>
      <p:sp>
        <p:nvSpPr>
          <p:cNvPr id="23" name="TextBox 22"/>
          <p:cNvSpPr txBox="1"/>
          <p:nvPr/>
        </p:nvSpPr>
        <p:spPr>
          <a:xfrm>
            <a:off x="7754112" y="4187952"/>
            <a:ext cx="1325880" cy="219456"/>
          </a:xfrm>
          <a:prstGeom prst="rect">
            <a:avLst/>
          </a:prstGeom>
          <a:noFill/>
        </p:spPr>
        <p:txBody>
          <a:bodyPr wrap="square" lIns="36576" tIns="36576" rIns="36576" bIns="36576" anchor="t">
            <a:spAutoFit/>
          </a:bodyPr>
          <a:lstStyle/>
          <a:p>
            <a:pPr algn="l"/>
            <a:r>
              <a:rPr sz="1200" b="1">
                <a:solidFill>
                  <a:srgbClr val="FFFFFF"/>
                </a:solidFill>
                <a:latin typeface="Aptos"/>
              </a:rPr>
              <a:t>AI reasoning</a:t>
            </a:r>
          </a:p>
        </p:txBody>
      </p:sp>
      <p:cxnSp>
        <p:nvCxnSpPr>
          <p:cNvPr id="24" name="Connector 23"/>
          <p:cNvCxnSpPr/>
          <p:nvPr/>
        </p:nvCxnSpPr>
        <p:spPr>
          <a:xfrm>
            <a:off x="8823960" y="4407408"/>
            <a:ext cx="301752" cy="0"/>
          </a:xfrm>
          <a:prstGeom prst="line">
            <a:avLst/>
          </a:prstGeom>
          <a:ln w="19050">
            <a:solidFill>
              <a:srgbClr val="5C709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281160" y="4160520"/>
            <a:ext cx="475488" cy="475488"/>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81160" y="4178807"/>
            <a:ext cx="475488" cy="457200"/>
          </a:xfrm>
          <a:prstGeom prst="rect">
            <a:avLst/>
          </a:prstGeom>
          <a:noFill/>
        </p:spPr>
        <p:txBody>
          <a:bodyPr wrap="square" lIns="36576" tIns="36576" rIns="36576" bIns="36576" anchor="ctr">
            <a:spAutoFit/>
          </a:bodyPr>
          <a:lstStyle/>
          <a:p>
            <a:pPr algn="ctr"/>
            <a:r>
              <a:rPr sz="1000" b="1">
                <a:solidFill>
                  <a:srgbClr val="0F172A"/>
                </a:solidFill>
                <a:latin typeface="Aptos"/>
              </a:rPr>
              <a:t>05</a:t>
            </a:r>
          </a:p>
        </p:txBody>
      </p:sp>
      <p:sp>
        <p:nvSpPr>
          <p:cNvPr id="27" name="TextBox 26"/>
          <p:cNvSpPr txBox="1"/>
          <p:nvPr/>
        </p:nvSpPr>
        <p:spPr>
          <a:xfrm>
            <a:off x="9902952" y="4187952"/>
            <a:ext cx="1325880" cy="219456"/>
          </a:xfrm>
          <a:prstGeom prst="rect">
            <a:avLst/>
          </a:prstGeom>
          <a:noFill/>
        </p:spPr>
        <p:txBody>
          <a:bodyPr wrap="square" lIns="36576" tIns="36576" rIns="36576" bIns="36576" anchor="t">
            <a:spAutoFit/>
          </a:bodyPr>
          <a:lstStyle/>
          <a:p>
            <a:pPr algn="l"/>
            <a:r>
              <a:rPr sz="1200" b="1">
                <a:solidFill>
                  <a:srgbClr val="FFFFFF"/>
                </a:solidFill>
                <a:latin typeface="Aptos"/>
              </a:rPr>
              <a:t>Verdict</a:t>
            </a:r>
          </a:p>
        </p:txBody>
      </p:sp>
      <p:sp>
        <p:nvSpPr>
          <p:cNvPr id="28" name="TextBox 27"/>
          <p:cNvSpPr txBox="1"/>
          <p:nvPr/>
        </p:nvSpPr>
        <p:spPr>
          <a:xfrm>
            <a:off x="685800" y="5806440"/>
            <a:ext cx="5852160" cy="274320"/>
          </a:xfrm>
          <a:prstGeom prst="rect">
            <a:avLst/>
          </a:prstGeom>
          <a:noFill/>
        </p:spPr>
        <p:txBody>
          <a:bodyPr wrap="square" lIns="36576" tIns="36576" rIns="36576" bIns="36576" anchor="t">
            <a:spAutoFit/>
          </a:bodyPr>
          <a:lstStyle/>
          <a:p>
            <a:pPr algn="l"/>
            <a:r>
              <a:rPr sz="1100" b="0">
                <a:solidFill>
                  <a:srgbClr val="AABAD2"/>
                </a:solidFill>
                <a:latin typeface="Aptos"/>
              </a:rPr>
              <a:t>University review  •  Technical viva  •  Hackathon demo</a:t>
            </a:r>
          </a:p>
        </p:txBody>
      </p:sp>
      <p:sp>
        <p:nvSpPr>
          <p:cNvPr id="29" name="TextBox 28"/>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B4BECD"/>
                </a:solidFill>
                <a:latin typeface="Aptos"/>
              </a:rPr>
              <a:t>GENESIS  /  AI-POWERED CLAIM VERIFICATION</a:t>
            </a:r>
          </a:p>
        </p:txBody>
      </p:sp>
      <p:sp>
        <p:nvSpPr>
          <p:cNvPr id="30" name="TextBox 29"/>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B4BECD"/>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926080" cy="228600"/>
          </a:xfrm>
          <a:prstGeom prst="rect">
            <a:avLst/>
          </a:prstGeom>
          <a:noFill/>
        </p:spPr>
        <p:txBody>
          <a:bodyPr wrap="square" lIns="36576" tIns="36576" rIns="36576" bIns="36576" anchor="t">
            <a:spAutoFit/>
          </a:bodyPr>
          <a:lstStyle/>
          <a:p>
            <a:pPr algn="l"/>
            <a:r>
              <a:rPr sz="1000" b="1">
                <a:solidFill>
                  <a:srgbClr val="D4A017"/>
                </a:solidFill>
                <a:latin typeface="Aptos"/>
              </a:rPr>
              <a:t>01 / THE IDEA</a:t>
            </a:r>
          </a:p>
        </p:txBody>
      </p:sp>
      <p:sp>
        <p:nvSpPr>
          <p:cNvPr id="4" name="TextBox 3"/>
          <p:cNvSpPr txBox="1"/>
          <p:nvPr/>
        </p:nvSpPr>
        <p:spPr>
          <a:xfrm>
            <a:off x="594360" y="612648"/>
            <a:ext cx="10972800" cy="566928"/>
          </a:xfrm>
          <a:prstGeom prst="rect">
            <a:avLst/>
          </a:prstGeom>
          <a:noFill/>
        </p:spPr>
        <p:txBody>
          <a:bodyPr wrap="square" lIns="36576" tIns="36576" rIns="36576" bIns="36576" anchor="t">
            <a:spAutoFit/>
          </a:bodyPr>
          <a:lstStyle/>
          <a:p>
            <a:pPr algn="l"/>
            <a:r>
              <a:rPr sz="2800" b="1">
                <a:solidFill>
                  <a:srgbClr val="161E2D"/>
                </a:solidFill>
                <a:latin typeface="Aptos Display"/>
              </a:rPr>
              <a:t>From claim to confidence</a:t>
            </a:r>
          </a:p>
        </p:txBody>
      </p:sp>
      <p:sp>
        <p:nvSpPr>
          <p:cNvPr id="5" name="TextBox 4"/>
          <p:cNvSpPr txBox="1"/>
          <p:nvPr/>
        </p:nvSpPr>
        <p:spPr>
          <a:xfrm>
            <a:off x="612648" y="1216152"/>
            <a:ext cx="10607040" cy="347472"/>
          </a:xfrm>
          <a:prstGeom prst="rect">
            <a:avLst/>
          </a:prstGeom>
          <a:noFill/>
        </p:spPr>
        <p:txBody>
          <a:bodyPr wrap="square" lIns="36576" tIns="36576" rIns="36576" bIns="36576" anchor="t">
            <a:spAutoFit/>
          </a:bodyPr>
          <a:lstStyle/>
          <a:p>
            <a:pPr algn="l"/>
            <a:r>
              <a:rPr sz="1250" b="0">
                <a:solidFill>
                  <a:srgbClr val="58657A"/>
                </a:solidFill>
                <a:latin typeface="Aptos"/>
              </a:rPr>
              <a:t>Genesis turns an ambiguous online statement into an inspectable verification result.</a:t>
            </a:r>
          </a:p>
        </p:txBody>
      </p:sp>
      <p:sp>
        <p:nvSpPr>
          <p:cNvPr id="6" name="Rounded Rectangle 5"/>
          <p:cNvSpPr/>
          <p:nvPr/>
        </p:nvSpPr>
        <p:spPr>
          <a:xfrm>
            <a:off x="685800" y="2057400"/>
            <a:ext cx="1901952" cy="23317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44168" y="2331720"/>
            <a:ext cx="585216" cy="58521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44168" y="2350008"/>
            <a:ext cx="585216" cy="566928"/>
          </a:xfrm>
          <a:prstGeom prst="rect">
            <a:avLst/>
          </a:prstGeom>
          <a:noFill/>
        </p:spPr>
        <p:txBody>
          <a:bodyPr wrap="square" lIns="36576" tIns="36576" rIns="36576" bIns="36576" anchor="ctr">
            <a:spAutoFit/>
          </a:bodyPr>
          <a:lstStyle/>
          <a:p>
            <a:pPr algn="ctr"/>
            <a:r>
              <a:rPr sz="1500" b="1">
                <a:solidFill>
                  <a:srgbClr val="FFFFFF"/>
                </a:solidFill>
                <a:latin typeface="Aptos"/>
              </a:rPr>
              <a:t>?</a:t>
            </a:r>
          </a:p>
        </p:txBody>
      </p:sp>
      <p:sp>
        <p:nvSpPr>
          <p:cNvPr id="9" name="TextBox 8"/>
          <p:cNvSpPr txBox="1"/>
          <p:nvPr/>
        </p:nvSpPr>
        <p:spPr>
          <a:xfrm>
            <a:off x="850392" y="3127248"/>
            <a:ext cx="1572768" cy="347472"/>
          </a:xfrm>
          <a:prstGeom prst="rect">
            <a:avLst/>
          </a:prstGeom>
          <a:noFill/>
        </p:spPr>
        <p:txBody>
          <a:bodyPr wrap="square" lIns="36576" tIns="36576" rIns="36576" bIns="36576" anchor="t">
            <a:spAutoFit/>
          </a:bodyPr>
          <a:lstStyle/>
          <a:p>
            <a:pPr algn="ctr"/>
            <a:r>
              <a:rPr sz="1300" b="1">
                <a:solidFill>
                  <a:srgbClr val="161E2D"/>
                </a:solidFill>
                <a:latin typeface="Aptos"/>
              </a:rPr>
              <a:t>Input claim</a:t>
            </a:r>
          </a:p>
        </p:txBody>
      </p:sp>
      <p:sp>
        <p:nvSpPr>
          <p:cNvPr id="10" name="TextBox 9"/>
          <p:cNvSpPr txBox="1"/>
          <p:nvPr/>
        </p:nvSpPr>
        <p:spPr>
          <a:xfrm>
            <a:off x="868680" y="3593592"/>
            <a:ext cx="1536192" cy="566928"/>
          </a:xfrm>
          <a:prstGeom prst="rect">
            <a:avLst/>
          </a:prstGeom>
          <a:noFill/>
        </p:spPr>
        <p:txBody>
          <a:bodyPr wrap="square" lIns="36576" tIns="36576" rIns="36576" bIns="36576" anchor="t">
            <a:spAutoFit/>
          </a:bodyPr>
          <a:lstStyle/>
          <a:p>
            <a:pPr algn="ctr"/>
            <a:r>
              <a:rPr sz="1019" b="0">
                <a:solidFill>
                  <a:srgbClr val="58657A"/>
                </a:solidFill>
                <a:latin typeface="Aptos"/>
              </a:rPr>
              <a:t>A complete sentence enters the workspace.</a:t>
            </a:r>
          </a:p>
        </p:txBody>
      </p:sp>
      <p:cxnSp>
        <p:nvCxnSpPr>
          <p:cNvPr id="11" name="Connector 10"/>
          <p:cNvCxnSpPr/>
          <p:nvPr/>
        </p:nvCxnSpPr>
        <p:spPr>
          <a:xfrm>
            <a:off x="2587752" y="3227832"/>
            <a:ext cx="292608" cy="0"/>
          </a:xfrm>
          <a:prstGeom prst="line">
            <a:avLst/>
          </a:prstGeom>
          <a:ln w="17780">
            <a:solidFill>
              <a:srgbClr val="2563E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53512" y="2057400"/>
            <a:ext cx="1901952" cy="23317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11880" y="2331720"/>
            <a:ext cx="585216" cy="585216"/>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11880" y="2350008"/>
            <a:ext cx="585216" cy="566928"/>
          </a:xfrm>
          <a:prstGeom prst="rect">
            <a:avLst/>
          </a:prstGeom>
          <a:noFill/>
        </p:spPr>
        <p:txBody>
          <a:bodyPr wrap="square" lIns="36576" tIns="36576" rIns="36576" bIns="36576" anchor="ctr">
            <a:spAutoFit/>
          </a:bodyPr>
          <a:lstStyle/>
          <a:p>
            <a:pPr algn="ctr"/>
            <a:r>
              <a:rPr sz="1500" b="1">
                <a:solidFill>
                  <a:srgbClr val="FFFFFF"/>
                </a:solidFill>
                <a:latin typeface="Aptos"/>
              </a:rPr>
              <a:t>↗</a:t>
            </a:r>
          </a:p>
        </p:txBody>
      </p:sp>
      <p:sp>
        <p:nvSpPr>
          <p:cNvPr id="15" name="TextBox 14"/>
          <p:cNvSpPr txBox="1"/>
          <p:nvPr/>
        </p:nvSpPr>
        <p:spPr>
          <a:xfrm>
            <a:off x="3118104" y="3127248"/>
            <a:ext cx="1572768" cy="347472"/>
          </a:xfrm>
          <a:prstGeom prst="rect">
            <a:avLst/>
          </a:prstGeom>
          <a:noFill/>
        </p:spPr>
        <p:txBody>
          <a:bodyPr wrap="square" lIns="36576" tIns="36576" rIns="36576" bIns="36576" anchor="t">
            <a:spAutoFit/>
          </a:bodyPr>
          <a:lstStyle/>
          <a:p>
            <a:pPr algn="ctr"/>
            <a:r>
              <a:rPr sz="1300" b="1">
                <a:solidFill>
                  <a:srgbClr val="161E2D"/>
                </a:solidFill>
                <a:latin typeface="Aptos"/>
              </a:rPr>
              <a:t>Evidence retrieval</a:t>
            </a:r>
          </a:p>
        </p:txBody>
      </p:sp>
      <p:sp>
        <p:nvSpPr>
          <p:cNvPr id="16" name="TextBox 15"/>
          <p:cNvSpPr txBox="1"/>
          <p:nvPr/>
        </p:nvSpPr>
        <p:spPr>
          <a:xfrm>
            <a:off x="3136392" y="3593592"/>
            <a:ext cx="1536192" cy="566928"/>
          </a:xfrm>
          <a:prstGeom prst="rect">
            <a:avLst/>
          </a:prstGeom>
          <a:noFill/>
        </p:spPr>
        <p:txBody>
          <a:bodyPr wrap="square" lIns="36576" tIns="36576" rIns="36576" bIns="36576" anchor="t">
            <a:spAutoFit/>
          </a:bodyPr>
          <a:lstStyle/>
          <a:p>
            <a:pPr algn="ctr"/>
            <a:r>
              <a:rPr sz="1019" b="0">
                <a:solidFill>
                  <a:srgbClr val="58657A"/>
                </a:solidFill>
                <a:latin typeface="Aptos"/>
              </a:rPr>
              <a:t>Tavily, SerpAPI, NewsAPI, or local fallback.</a:t>
            </a:r>
          </a:p>
        </p:txBody>
      </p:sp>
      <p:cxnSp>
        <p:nvCxnSpPr>
          <p:cNvPr id="17" name="Connector 16"/>
          <p:cNvCxnSpPr/>
          <p:nvPr/>
        </p:nvCxnSpPr>
        <p:spPr>
          <a:xfrm>
            <a:off x="4855464" y="3227832"/>
            <a:ext cx="292608" cy="0"/>
          </a:xfrm>
          <a:prstGeom prst="line">
            <a:avLst/>
          </a:prstGeom>
          <a:ln w="17780">
            <a:solidFill>
              <a:srgbClr val="2563E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221224" y="2057400"/>
            <a:ext cx="1901952" cy="23317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879592" y="2331720"/>
            <a:ext cx="585216" cy="58521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79592" y="2350008"/>
            <a:ext cx="585216" cy="566928"/>
          </a:xfrm>
          <a:prstGeom prst="rect">
            <a:avLst/>
          </a:prstGeom>
          <a:noFill/>
        </p:spPr>
        <p:txBody>
          <a:bodyPr wrap="square" lIns="36576" tIns="36576" rIns="36576" bIns="36576" anchor="ctr">
            <a:spAutoFit/>
          </a:bodyPr>
          <a:lstStyle/>
          <a:p>
            <a:pPr algn="ctr"/>
            <a:r>
              <a:rPr sz="1500" b="1">
                <a:solidFill>
                  <a:srgbClr val="FFFFFF"/>
                </a:solidFill>
                <a:latin typeface="Aptos"/>
              </a:rPr>
              <a:t>AI</a:t>
            </a:r>
          </a:p>
        </p:txBody>
      </p:sp>
      <p:sp>
        <p:nvSpPr>
          <p:cNvPr id="21" name="TextBox 20"/>
          <p:cNvSpPr txBox="1"/>
          <p:nvPr/>
        </p:nvSpPr>
        <p:spPr>
          <a:xfrm>
            <a:off x="5385816" y="3127248"/>
            <a:ext cx="1572768" cy="347472"/>
          </a:xfrm>
          <a:prstGeom prst="rect">
            <a:avLst/>
          </a:prstGeom>
          <a:noFill/>
        </p:spPr>
        <p:txBody>
          <a:bodyPr wrap="square" lIns="36576" tIns="36576" rIns="36576" bIns="36576" anchor="t">
            <a:spAutoFit/>
          </a:bodyPr>
          <a:lstStyle/>
          <a:p>
            <a:pPr algn="ctr"/>
            <a:r>
              <a:rPr sz="1300" b="1">
                <a:solidFill>
                  <a:srgbClr val="161E2D"/>
                </a:solidFill>
                <a:latin typeface="Aptos"/>
              </a:rPr>
              <a:t>AI analysis</a:t>
            </a:r>
          </a:p>
        </p:txBody>
      </p:sp>
      <p:sp>
        <p:nvSpPr>
          <p:cNvPr id="22" name="TextBox 21"/>
          <p:cNvSpPr txBox="1"/>
          <p:nvPr/>
        </p:nvSpPr>
        <p:spPr>
          <a:xfrm>
            <a:off x="5404104" y="3593592"/>
            <a:ext cx="1536192" cy="566928"/>
          </a:xfrm>
          <a:prstGeom prst="rect">
            <a:avLst/>
          </a:prstGeom>
          <a:noFill/>
        </p:spPr>
        <p:txBody>
          <a:bodyPr wrap="square" lIns="36576" tIns="36576" rIns="36576" bIns="36576" anchor="t">
            <a:spAutoFit/>
          </a:bodyPr>
          <a:lstStyle/>
          <a:p>
            <a:pPr algn="ctr"/>
            <a:r>
              <a:rPr sz="1019" b="0">
                <a:solidFill>
                  <a:srgbClr val="58657A"/>
                </a:solidFill>
                <a:latin typeface="Aptos"/>
              </a:rPr>
              <a:t>DistilBERT signal plus claim and evidence stages.</a:t>
            </a:r>
          </a:p>
        </p:txBody>
      </p:sp>
      <p:cxnSp>
        <p:nvCxnSpPr>
          <p:cNvPr id="23" name="Connector 22"/>
          <p:cNvCxnSpPr/>
          <p:nvPr/>
        </p:nvCxnSpPr>
        <p:spPr>
          <a:xfrm>
            <a:off x="7123176" y="3227832"/>
            <a:ext cx="292607" cy="0"/>
          </a:xfrm>
          <a:prstGeom prst="line">
            <a:avLst/>
          </a:prstGeom>
          <a:ln w="17780">
            <a:solidFill>
              <a:srgbClr val="2563E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488936" y="2057400"/>
            <a:ext cx="1901952" cy="23317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147304" y="2331720"/>
            <a:ext cx="585216" cy="585216"/>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47304" y="2350008"/>
            <a:ext cx="585216" cy="566928"/>
          </a:xfrm>
          <a:prstGeom prst="rect">
            <a:avLst/>
          </a:prstGeom>
          <a:noFill/>
        </p:spPr>
        <p:txBody>
          <a:bodyPr wrap="square" lIns="36576" tIns="36576" rIns="36576" bIns="36576" anchor="ctr">
            <a:spAutoFit/>
          </a:bodyPr>
          <a:lstStyle/>
          <a:p>
            <a:pPr algn="ctr"/>
            <a:r>
              <a:rPr sz="1500" b="1">
                <a:solidFill>
                  <a:srgbClr val="FFFFFF"/>
                </a:solidFill>
                <a:latin typeface="Aptos"/>
              </a:rPr>
              <a:t>≠</a:t>
            </a:r>
          </a:p>
        </p:txBody>
      </p:sp>
      <p:sp>
        <p:nvSpPr>
          <p:cNvPr id="27" name="TextBox 26"/>
          <p:cNvSpPr txBox="1"/>
          <p:nvPr/>
        </p:nvSpPr>
        <p:spPr>
          <a:xfrm>
            <a:off x="7653527" y="3127248"/>
            <a:ext cx="1572768" cy="347472"/>
          </a:xfrm>
          <a:prstGeom prst="rect">
            <a:avLst/>
          </a:prstGeom>
          <a:noFill/>
        </p:spPr>
        <p:txBody>
          <a:bodyPr wrap="square" lIns="36576" tIns="36576" rIns="36576" bIns="36576" anchor="t">
            <a:spAutoFit/>
          </a:bodyPr>
          <a:lstStyle/>
          <a:p>
            <a:pPr algn="ctr"/>
            <a:r>
              <a:rPr sz="1300" b="1">
                <a:solidFill>
                  <a:srgbClr val="161E2D"/>
                </a:solidFill>
                <a:latin typeface="Aptos"/>
              </a:rPr>
              <a:t>Reasoning</a:t>
            </a:r>
          </a:p>
        </p:txBody>
      </p:sp>
      <p:sp>
        <p:nvSpPr>
          <p:cNvPr id="28" name="TextBox 27"/>
          <p:cNvSpPr txBox="1"/>
          <p:nvPr/>
        </p:nvSpPr>
        <p:spPr>
          <a:xfrm>
            <a:off x="7671815" y="3593592"/>
            <a:ext cx="1536192" cy="566928"/>
          </a:xfrm>
          <a:prstGeom prst="rect">
            <a:avLst/>
          </a:prstGeom>
          <a:noFill/>
        </p:spPr>
        <p:txBody>
          <a:bodyPr wrap="square" lIns="36576" tIns="36576" rIns="36576" bIns="36576" anchor="t">
            <a:spAutoFit/>
          </a:bodyPr>
          <a:lstStyle/>
          <a:p>
            <a:pPr algn="ctr"/>
            <a:r>
              <a:rPr sz="1019" b="0">
                <a:solidFill>
                  <a:srgbClr val="58657A"/>
                </a:solidFill>
                <a:latin typeface="Aptos"/>
              </a:rPr>
              <a:t>Prosecutor, defender, and judge compare signals.</a:t>
            </a:r>
          </a:p>
        </p:txBody>
      </p:sp>
      <p:cxnSp>
        <p:nvCxnSpPr>
          <p:cNvPr id="29" name="Connector 28"/>
          <p:cNvCxnSpPr/>
          <p:nvPr/>
        </p:nvCxnSpPr>
        <p:spPr>
          <a:xfrm>
            <a:off x="9390888" y="3227832"/>
            <a:ext cx="292608" cy="0"/>
          </a:xfrm>
          <a:prstGeom prst="line">
            <a:avLst/>
          </a:prstGeom>
          <a:ln w="17780">
            <a:solidFill>
              <a:srgbClr val="2563E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756648" y="2057400"/>
            <a:ext cx="1901952" cy="23317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415016" y="2331720"/>
            <a:ext cx="585216" cy="585216"/>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15016" y="2350008"/>
            <a:ext cx="585216" cy="566928"/>
          </a:xfrm>
          <a:prstGeom prst="rect">
            <a:avLst/>
          </a:prstGeom>
          <a:noFill/>
        </p:spPr>
        <p:txBody>
          <a:bodyPr wrap="square" lIns="36576" tIns="36576" rIns="36576" bIns="36576" anchor="ctr">
            <a:spAutoFit/>
          </a:bodyPr>
          <a:lstStyle/>
          <a:p>
            <a:pPr algn="ctr"/>
            <a:r>
              <a:rPr sz="1500" b="1">
                <a:solidFill>
                  <a:srgbClr val="FFFFFF"/>
                </a:solidFill>
                <a:latin typeface="Aptos"/>
              </a:rPr>
              <a:t>✓</a:t>
            </a:r>
          </a:p>
        </p:txBody>
      </p:sp>
      <p:sp>
        <p:nvSpPr>
          <p:cNvPr id="33" name="TextBox 32"/>
          <p:cNvSpPr txBox="1"/>
          <p:nvPr/>
        </p:nvSpPr>
        <p:spPr>
          <a:xfrm>
            <a:off x="9921240" y="3127248"/>
            <a:ext cx="1572768" cy="347472"/>
          </a:xfrm>
          <a:prstGeom prst="rect">
            <a:avLst/>
          </a:prstGeom>
          <a:noFill/>
        </p:spPr>
        <p:txBody>
          <a:bodyPr wrap="square" lIns="36576" tIns="36576" rIns="36576" bIns="36576" anchor="t">
            <a:spAutoFit/>
          </a:bodyPr>
          <a:lstStyle/>
          <a:p>
            <a:pPr algn="ctr"/>
            <a:r>
              <a:rPr sz="1300" b="1">
                <a:solidFill>
                  <a:srgbClr val="161E2D"/>
                </a:solidFill>
                <a:latin typeface="Aptos"/>
              </a:rPr>
              <a:t>Verdict</a:t>
            </a:r>
          </a:p>
        </p:txBody>
      </p:sp>
      <p:sp>
        <p:nvSpPr>
          <p:cNvPr id="34" name="TextBox 33"/>
          <p:cNvSpPr txBox="1"/>
          <p:nvPr/>
        </p:nvSpPr>
        <p:spPr>
          <a:xfrm>
            <a:off x="9939528" y="3593592"/>
            <a:ext cx="1536192" cy="566928"/>
          </a:xfrm>
          <a:prstGeom prst="rect">
            <a:avLst/>
          </a:prstGeom>
          <a:noFill/>
        </p:spPr>
        <p:txBody>
          <a:bodyPr wrap="square" lIns="36576" tIns="36576" rIns="36576" bIns="36576" anchor="t">
            <a:spAutoFit/>
          </a:bodyPr>
          <a:lstStyle/>
          <a:p>
            <a:pPr algn="ctr"/>
            <a:r>
              <a:rPr sz="1019" b="0">
                <a:solidFill>
                  <a:srgbClr val="58657A"/>
                </a:solidFill>
                <a:latin typeface="Aptos"/>
              </a:rPr>
              <a:t>Verdict, confidence, explanation, and evidence summary.</a:t>
            </a:r>
          </a:p>
        </p:txBody>
      </p:sp>
      <p:sp>
        <p:nvSpPr>
          <p:cNvPr id="35" name="TextBox 34"/>
          <p:cNvSpPr txBox="1"/>
          <p:nvPr/>
        </p:nvSpPr>
        <p:spPr>
          <a:xfrm>
            <a:off x="713232" y="5074920"/>
            <a:ext cx="10789920" cy="457200"/>
          </a:xfrm>
          <a:prstGeom prst="rect">
            <a:avLst/>
          </a:prstGeom>
          <a:noFill/>
        </p:spPr>
        <p:txBody>
          <a:bodyPr wrap="square" lIns="36576" tIns="36576" rIns="36576" bIns="36576" anchor="t">
            <a:spAutoFit/>
          </a:bodyPr>
          <a:lstStyle/>
          <a:p>
            <a:pPr algn="ctr"/>
            <a:r>
              <a:rPr sz="1800" b="1">
                <a:solidFill>
                  <a:srgbClr val="4F46E5"/>
                </a:solidFill>
                <a:latin typeface="Aptos Display"/>
              </a:rPr>
              <a:t>The design principle: make the verification path visible enough that a user can challenge the result.</a:t>
            </a:r>
          </a:p>
        </p:txBody>
      </p:sp>
      <p:sp>
        <p:nvSpPr>
          <p:cNvPr id="36" name="TextBox 35"/>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58657A"/>
                </a:solidFill>
                <a:latin typeface="Aptos"/>
              </a:rPr>
              <a:t>GENESIS  /  AI-POWERED CLAIM VERIFICATION</a:t>
            </a:r>
          </a:p>
        </p:txBody>
      </p:sp>
      <p:sp>
        <p:nvSpPr>
          <p:cNvPr id="37" name="TextBox 36"/>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58657A"/>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926080" cy="228600"/>
          </a:xfrm>
          <a:prstGeom prst="rect">
            <a:avLst/>
          </a:prstGeom>
          <a:noFill/>
        </p:spPr>
        <p:txBody>
          <a:bodyPr wrap="square" lIns="36576" tIns="36576" rIns="36576" bIns="36576" anchor="t">
            <a:spAutoFit/>
          </a:bodyPr>
          <a:lstStyle/>
          <a:p>
            <a:pPr algn="l"/>
            <a:r>
              <a:rPr sz="1000" b="1">
                <a:solidFill>
                  <a:srgbClr val="D4A017"/>
                </a:solidFill>
                <a:latin typeface="Aptos"/>
              </a:rPr>
              <a:t>02 / ARCHITECTURE</a:t>
            </a:r>
          </a:p>
        </p:txBody>
      </p:sp>
      <p:sp>
        <p:nvSpPr>
          <p:cNvPr id="4" name="TextBox 3"/>
          <p:cNvSpPr txBox="1"/>
          <p:nvPr/>
        </p:nvSpPr>
        <p:spPr>
          <a:xfrm>
            <a:off x="594360" y="612648"/>
            <a:ext cx="10972800" cy="566928"/>
          </a:xfrm>
          <a:prstGeom prst="rect">
            <a:avLst/>
          </a:prstGeom>
          <a:noFill/>
        </p:spPr>
        <p:txBody>
          <a:bodyPr wrap="square" lIns="36576" tIns="36576" rIns="36576" bIns="36576" anchor="t">
            <a:spAutoFit/>
          </a:bodyPr>
          <a:lstStyle/>
          <a:p>
            <a:pPr algn="l"/>
            <a:r>
              <a:rPr sz="2800" b="1">
                <a:solidFill>
                  <a:srgbClr val="161E2D"/>
                </a:solidFill>
                <a:latin typeface="Aptos Display"/>
              </a:rPr>
              <a:t>One system, multiple evidence signals</a:t>
            </a:r>
          </a:p>
        </p:txBody>
      </p:sp>
      <p:sp>
        <p:nvSpPr>
          <p:cNvPr id="5" name="TextBox 4"/>
          <p:cNvSpPr txBox="1"/>
          <p:nvPr/>
        </p:nvSpPr>
        <p:spPr>
          <a:xfrm>
            <a:off x="612648" y="1216152"/>
            <a:ext cx="10607040" cy="347472"/>
          </a:xfrm>
          <a:prstGeom prst="rect">
            <a:avLst/>
          </a:prstGeom>
          <a:noFill/>
        </p:spPr>
        <p:txBody>
          <a:bodyPr wrap="square" lIns="36576" tIns="36576" rIns="36576" bIns="36576" anchor="t">
            <a:spAutoFit/>
          </a:bodyPr>
          <a:lstStyle/>
          <a:p>
            <a:pPr algn="l"/>
            <a:r>
              <a:rPr sz="1250" b="0">
                <a:solidFill>
                  <a:srgbClr val="58657A"/>
                </a:solidFill>
                <a:latin typeface="Aptos"/>
              </a:rPr>
              <a:t>Active runtime components only; archived code is not part of the default import path.</a:t>
            </a:r>
          </a:p>
        </p:txBody>
      </p:sp>
      <p:sp>
        <p:nvSpPr>
          <p:cNvPr id="6" name="Rounded Rectangle 5"/>
          <p:cNvSpPr/>
          <p:nvPr/>
        </p:nvSpPr>
        <p:spPr>
          <a:xfrm>
            <a:off x="914400" y="1783080"/>
            <a:ext cx="10332720" cy="530352"/>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43000" y="1874519"/>
            <a:ext cx="347472" cy="34747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1892807"/>
            <a:ext cx="347472" cy="329184"/>
          </a:xfrm>
          <a:prstGeom prst="rect">
            <a:avLst/>
          </a:prstGeom>
          <a:noFill/>
        </p:spPr>
        <p:txBody>
          <a:bodyPr wrap="square" lIns="36576" tIns="36576" rIns="36576" bIns="36576" anchor="ctr">
            <a:spAutoFit/>
          </a:bodyPr>
          <a:lstStyle/>
          <a:p>
            <a:pPr algn="ctr"/>
            <a:r>
              <a:rPr sz="1000" b="1">
                <a:solidFill>
                  <a:srgbClr val="FFFFFF"/>
                </a:solidFill>
                <a:latin typeface="Aptos"/>
              </a:rPr>
              <a:t>1</a:t>
            </a:r>
          </a:p>
        </p:txBody>
      </p:sp>
      <p:sp>
        <p:nvSpPr>
          <p:cNvPr id="9" name="TextBox 8"/>
          <p:cNvSpPr txBox="1"/>
          <p:nvPr/>
        </p:nvSpPr>
        <p:spPr>
          <a:xfrm>
            <a:off x="1664208" y="1874519"/>
            <a:ext cx="1920240" cy="228600"/>
          </a:xfrm>
          <a:prstGeom prst="rect">
            <a:avLst/>
          </a:prstGeom>
          <a:noFill/>
        </p:spPr>
        <p:txBody>
          <a:bodyPr wrap="square" lIns="36576" tIns="36576" rIns="36576" bIns="36576" anchor="t">
            <a:spAutoFit/>
          </a:bodyPr>
          <a:lstStyle/>
          <a:p>
            <a:pPr algn="l"/>
            <a:r>
              <a:rPr sz="1200" b="1">
                <a:solidFill>
                  <a:srgbClr val="161E2D"/>
                </a:solidFill>
                <a:latin typeface="Aptos"/>
              </a:rPr>
              <a:t>User</a:t>
            </a:r>
          </a:p>
        </p:txBody>
      </p:sp>
      <p:sp>
        <p:nvSpPr>
          <p:cNvPr id="10" name="TextBox 9"/>
          <p:cNvSpPr txBox="1"/>
          <p:nvPr/>
        </p:nvSpPr>
        <p:spPr>
          <a:xfrm>
            <a:off x="3703320" y="1874519"/>
            <a:ext cx="6995160" cy="228600"/>
          </a:xfrm>
          <a:prstGeom prst="rect">
            <a:avLst/>
          </a:prstGeom>
          <a:noFill/>
        </p:spPr>
        <p:txBody>
          <a:bodyPr wrap="square" lIns="36576" tIns="36576" rIns="36576" bIns="36576" anchor="t">
            <a:spAutoFit/>
          </a:bodyPr>
          <a:lstStyle/>
          <a:p>
            <a:pPr algn="l"/>
            <a:r>
              <a:rPr sz="1100" b="0">
                <a:solidFill>
                  <a:srgbClr val="58657A"/>
                </a:solidFill>
                <a:latin typeface="Aptos"/>
              </a:rPr>
              <a:t>Claim submission and review</a:t>
            </a:r>
          </a:p>
        </p:txBody>
      </p:sp>
      <p:cxnSp>
        <p:nvCxnSpPr>
          <p:cNvPr id="11" name="Connector 10"/>
          <p:cNvCxnSpPr/>
          <p:nvPr/>
        </p:nvCxnSpPr>
        <p:spPr>
          <a:xfrm>
            <a:off x="6080760" y="2322576"/>
            <a:ext cx="0" cy="192024"/>
          </a:xfrm>
          <a:prstGeom prst="line">
            <a:avLst/>
          </a:prstGeom>
          <a:ln w="13970">
            <a:solidFill>
              <a:srgbClr val="AAB9D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4400" y="2532888"/>
            <a:ext cx="10332720" cy="530352"/>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43000" y="2624328"/>
            <a:ext cx="347472" cy="34747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2642616"/>
            <a:ext cx="347472" cy="329184"/>
          </a:xfrm>
          <a:prstGeom prst="rect">
            <a:avLst/>
          </a:prstGeom>
          <a:noFill/>
        </p:spPr>
        <p:txBody>
          <a:bodyPr wrap="square" lIns="36576" tIns="36576" rIns="36576" bIns="36576" anchor="ctr">
            <a:spAutoFit/>
          </a:bodyPr>
          <a:lstStyle/>
          <a:p>
            <a:pPr algn="ctr"/>
            <a:r>
              <a:rPr sz="1000" b="1">
                <a:solidFill>
                  <a:srgbClr val="FFFFFF"/>
                </a:solidFill>
                <a:latin typeface="Aptos"/>
              </a:rPr>
              <a:t>2</a:t>
            </a:r>
          </a:p>
        </p:txBody>
      </p:sp>
      <p:sp>
        <p:nvSpPr>
          <p:cNvPr id="15" name="TextBox 14"/>
          <p:cNvSpPr txBox="1"/>
          <p:nvPr/>
        </p:nvSpPr>
        <p:spPr>
          <a:xfrm>
            <a:off x="1664208" y="2624328"/>
            <a:ext cx="1920240" cy="228600"/>
          </a:xfrm>
          <a:prstGeom prst="rect">
            <a:avLst/>
          </a:prstGeom>
          <a:noFill/>
        </p:spPr>
        <p:txBody>
          <a:bodyPr wrap="square" lIns="36576" tIns="36576" rIns="36576" bIns="36576" anchor="t">
            <a:spAutoFit/>
          </a:bodyPr>
          <a:lstStyle/>
          <a:p>
            <a:pPr algn="l"/>
            <a:r>
              <a:rPr sz="1200" b="1">
                <a:solidFill>
                  <a:srgbClr val="161E2D"/>
                </a:solidFill>
                <a:latin typeface="Aptos"/>
              </a:rPr>
              <a:t>React + Axios</a:t>
            </a:r>
          </a:p>
        </p:txBody>
      </p:sp>
      <p:sp>
        <p:nvSpPr>
          <p:cNvPr id="16" name="TextBox 15"/>
          <p:cNvSpPr txBox="1"/>
          <p:nvPr/>
        </p:nvSpPr>
        <p:spPr>
          <a:xfrm>
            <a:off x="3703320" y="2624328"/>
            <a:ext cx="6995160" cy="228600"/>
          </a:xfrm>
          <a:prstGeom prst="rect">
            <a:avLst/>
          </a:prstGeom>
          <a:noFill/>
        </p:spPr>
        <p:txBody>
          <a:bodyPr wrap="square" lIns="36576" tIns="36576" rIns="36576" bIns="36576" anchor="t">
            <a:spAutoFit/>
          </a:bodyPr>
          <a:lstStyle/>
          <a:p>
            <a:pPr algn="l"/>
            <a:r>
              <a:rPr sz="1100" b="0">
                <a:solidFill>
                  <a:srgbClr val="58657A"/>
                </a:solidFill>
                <a:latin typeface="Aptos"/>
              </a:rPr>
              <a:t>Home, history, stats, auth, result components</a:t>
            </a:r>
          </a:p>
        </p:txBody>
      </p:sp>
      <p:cxnSp>
        <p:nvCxnSpPr>
          <p:cNvPr id="17" name="Connector 16"/>
          <p:cNvCxnSpPr/>
          <p:nvPr/>
        </p:nvCxnSpPr>
        <p:spPr>
          <a:xfrm>
            <a:off x="6080760" y="3072384"/>
            <a:ext cx="0" cy="192024"/>
          </a:xfrm>
          <a:prstGeom prst="line">
            <a:avLst/>
          </a:prstGeom>
          <a:ln w="13970">
            <a:solidFill>
              <a:srgbClr val="AAB9D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14400" y="3282696"/>
            <a:ext cx="10332720" cy="530352"/>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43000" y="3374136"/>
            <a:ext cx="347472" cy="347472"/>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43000" y="3392424"/>
            <a:ext cx="347472" cy="329184"/>
          </a:xfrm>
          <a:prstGeom prst="rect">
            <a:avLst/>
          </a:prstGeom>
          <a:noFill/>
        </p:spPr>
        <p:txBody>
          <a:bodyPr wrap="square" lIns="36576" tIns="36576" rIns="36576" bIns="36576" anchor="ctr">
            <a:spAutoFit/>
          </a:bodyPr>
          <a:lstStyle/>
          <a:p>
            <a:pPr algn="ctr"/>
            <a:r>
              <a:rPr sz="1000" b="1">
                <a:solidFill>
                  <a:srgbClr val="FFFFFF"/>
                </a:solidFill>
                <a:latin typeface="Aptos"/>
              </a:rPr>
              <a:t>3</a:t>
            </a:r>
          </a:p>
        </p:txBody>
      </p:sp>
      <p:sp>
        <p:nvSpPr>
          <p:cNvPr id="21" name="TextBox 20"/>
          <p:cNvSpPr txBox="1"/>
          <p:nvPr/>
        </p:nvSpPr>
        <p:spPr>
          <a:xfrm>
            <a:off x="1664208" y="3374136"/>
            <a:ext cx="1920240" cy="228600"/>
          </a:xfrm>
          <a:prstGeom prst="rect">
            <a:avLst/>
          </a:prstGeom>
          <a:noFill/>
        </p:spPr>
        <p:txBody>
          <a:bodyPr wrap="square" lIns="36576" tIns="36576" rIns="36576" bIns="36576" anchor="t">
            <a:spAutoFit/>
          </a:bodyPr>
          <a:lstStyle/>
          <a:p>
            <a:pPr algn="l"/>
            <a:r>
              <a:rPr sz="1200" b="1">
                <a:solidFill>
                  <a:srgbClr val="161E2D"/>
                </a:solidFill>
                <a:latin typeface="Aptos"/>
              </a:rPr>
              <a:t>FastAPI</a:t>
            </a:r>
          </a:p>
        </p:txBody>
      </p:sp>
      <p:sp>
        <p:nvSpPr>
          <p:cNvPr id="22" name="TextBox 21"/>
          <p:cNvSpPr txBox="1"/>
          <p:nvPr/>
        </p:nvSpPr>
        <p:spPr>
          <a:xfrm>
            <a:off x="3703320" y="3374136"/>
            <a:ext cx="6995160" cy="228600"/>
          </a:xfrm>
          <a:prstGeom prst="rect">
            <a:avLst/>
          </a:prstGeom>
          <a:noFill/>
        </p:spPr>
        <p:txBody>
          <a:bodyPr wrap="square" lIns="36576" tIns="36576" rIns="36576" bIns="36576" anchor="t">
            <a:spAutoFit/>
          </a:bodyPr>
          <a:lstStyle/>
          <a:p>
            <a:pPr algn="l"/>
            <a:r>
              <a:rPr sz="1100" b="0">
                <a:solidFill>
                  <a:srgbClr val="58657A"/>
                </a:solidFill>
                <a:latin typeface="Aptos"/>
              </a:rPr>
              <a:t>Routes, CORS, timing middleware, lifecycle</a:t>
            </a:r>
          </a:p>
        </p:txBody>
      </p:sp>
      <p:cxnSp>
        <p:nvCxnSpPr>
          <p:cNvPr id="23" name="Connector 22"/>
          <p:cNvCxnSpPr/>
          <p:nvPr/>
        </p:nvCxnSpPr>
        <p:spPr>
          <a:xfrm>
            <a:off x="6080760" y="3822191"/>
            <a:ext cx="0" cy="192024"/>
          </a:xfrm>
          <a:prstGeom prst="line">
            <a:avLst/>
          </a:prstGeom>
          <a:ln w="13970">
            <a:solidFill>
              <a:srgbClr val="AAB9D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14400" y="4032504"/>
            <a:ext cx="10332720" cy="530352"/>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43000" y="4123944"/>
            <a:ext cx="347472" cy="34747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43000" y="4142231"/>
            <a:ext cx="347472" cy="329184"/>
          </a:xfrm>
          <a:prstGeom prst="rect">
            <a:avLst/>
          </a:prstGeom>
          <a:noFill/>
        </p:spPr>
        <p:txBody>
          <a:bodyPr wrap="square" lIns="36576" tIns="36576" rIns="36576" bIns="36576" anchor="ctr">
            <a:spAutoFit/>
          </a:bodyPr>
          <a:lstStyle/>
          <a:p>
            <a:pPr algn="ctr"/>
            <a:r>
              <a:rPr sz="1000" b="1">
                <a:solidFill>
                  <a:srgbClr val="FFFFFF"/>
                </a:solidFill>
                <a:latin typeface="Aptos"/>
              </a:rPr>
              <a:t>4</a:t>
            </a:r>
          </a:p>
        </p:txBody>
      </p:sp>
      <p:sp>
        <p:nvSpPr>
          <p:cNvPr id="27" name="TextBox 26"/>
          <p:cNvSpPr txBox="1"/>
          <p:nvPr/>
        </p:nvSpPr>
        <p:spPr>
          <a:xfrm>
            <a:off x="1664208" y="4123944"/>
            <a:ext cx="1920240" cy="228600"/>
          </a:xfrm>
          <a:prstGeom prst="rect">
            <a:avLst/>
          </a:prstGeom>
          <a:noFill/>
        </p:spPr>
        <p:txBody>
          <a:bodyPr wrap="square" lIns="36576" tIns="36576" rIns="36576" bIns="36576" anchor="t">
            <a:spAutoFit/>
          </a:bodyPr>
          <a:lstStyle/>
          <a:p>
            <a:pPr algn="l"/>
            <a:r>
              <a:rPr sz="1200" b="1">
                <a:solidFill>
                  <a:srgbClr val="161E2D"/>
                </a:solidFill>
                <a:latin typeface="Aptos"/>
              </a:rPr>
              <a:t>AI pipeline</a:t>
            </a:r>
          </a:p>
        </p:txBody>
      </p:sp>
      <p:sp>
        <p:nvSpPr>
          <p:cNvPr id="28" name="TextBox 27"/>
          <p:cNvSpPr txBox="1"/>
          <p:nvPr/>
        </p:nvSpPr>
        <p:spPr>
          <a:xfrm>
            <a:off x="3703320" y="4123944"/>
            <a:ext cx="6995160" cy="228600"/>
          </a:xfrm>
          <a:prstGeom prst="rect">
            <a:avLst/>
          </a:prstGeom>
          <a:noFill/>
        </p:spPr>
        <p:txBody>
          <a:bodyPr wrap="square" lIns="36576" tIns="36576" rIns="36576" bIns="36576" anchor="t">
            <a:spAutoFit/>
          </a:bodyPr>
          <a:lstStyle/>
          <a:p>
            <a:pPr algn="l"/>
            <a:r>
              <a:rPr sz="1100" b="0">
                <a:solidFill>
                  <a:srgbClr val="58657A"/>
                </a:solidFill>
                <a:latin typeface="Aptos"/>
              </a:rPr>
              <a:t>DistilBERT → analysis → retrieval → debate → judge</a:t>
            </a:r>
          </a:p>
        </p:txBody>
      </p:sp>
      <p:cxnSp>
        <p:nvCxnSpPr>
          <p:cNvPr id="29" name="Connector 28"/>
          <p:cNvCxnSpPr/>
          <p:nvPr/>
        </p:nvCxnSpPr>
        <p:spPr>
          <a:xfrm>
            <a:off x="6080760" y="4572000"/>
            <a:ext cx="0" cy="192024"/>
          </a:xfrm>
          <a:prstGeom prst="line">
            <a:avLst/>
          </a:prstGeom>
          <a:ln w="13970">
            <a:solidFill>
              <a:srgbClr val="AAB9D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14400" y="4782312"/>
            <a:ext cx="10332720" cy="530352"/>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143000" y="4873751"/>
            <a:ext cx="347472" cy="34747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43000" y="4892039"/>
            <a:ext cx="347472" cy="329184"/>
          </a:xfrm>
          <a:prstGeom prst="rect">
            <a:avLst/>
          </a:prstGeom>
          <a:noFill/>
        </p:spPr>
        <p:txBody>
          <a:bodyPr wrap="square" lIns="36576" tIns="36576" rIns="36576" bIns="36576" anchor="ctr">
            <a:spAutoFit/>
          </a:bodyPr>
          <a:lstStyle/>
          <a:p>
            <a:pPr algn="ctr"/>
            <a:r>
              <a:rPr sz="1000" b="1">
                <a:solidFill>
                  <a:srgbClr val="FFFFFF"/>
                </a:solidFill>
                <a:latin typeface="Aptos"/>
              </a:rPr>
              <a:t>5</a:t>
            </a:r>
          </a:p>
        </p:txBody>
      </p:sp>
      <p:sp>
        <p:nvSpPr>
          <p:cNvPr id="33" name="TextBox 32"/>
          <p:cNvSpPr txBox="1"/>
          <p:nvPr/>
        </p:nvSpPr>
        <p:spPr>
          <a:xfrm>
            <a:off x="1664208" y="4873751"/>
            <a:ext cx="1920240" cy="228600"/>
          </a:xfrm>
          <a:prstGeom prst="rect">
            <a:avLst/>
          </a:prstGeom>
          <a:noFill/>
        </p:spPr>
        <p:txBody>
          <a:bodyPr wrap="square" lIns="36576" tIns="36576" rIns="36576" bIns="36576" anchor="t">
            <a:spAutoFit/>
          </a:bodyPr>
          <a:lstStyle/>
          <a:p>
            <a:pPr algn="l"/>
            <a:r>
              <a:rPr sz="1200" b="1">
                <a:solidFill>
                  <a:srgbClr val="161E2D"/>
                </a:solidFill>
                <a:latin typeface="Aptos"/>
              </a:rPr>
              <a:t>Providers + storage</a:t>
            </a:r>
          </a:p>
        </p:txBody>
      </p:sp>
      <p:sp>
        <p:nvSpPr>
          <p:cNvPr id="34" name="TextBox 33"/>
          <p:cNvSpPr txBox="1"/>
          <p:nvPr/>
        </p:nvSpPr>
        <p:spPr>
          <a:xfrm>
            <a:off x="3703320" y="4873751"/>
            <a:ext cx="6995160" cy="228600"/>
          </a:xfrm>
          <a:prstGeom prst="rect">
            <a:avLst/>
          </a:prstGeom>
          <a:noFill/>
        </p:spPr>
        <p:txBody>
          <a:bodyPr wrap="square" lIns="36576" tIns="36576" rIns="36576" bIns="36576" anchor="t">
            <a:spAutoFit/>
          </a:bodyPr>
          <a:lstStyle/>
          <a:p>
            <a:pPr algn="l"/>
            <a:r>
              <a:rPr sz="1100" b="0">
                <a:solidFill>
                  <a:srgbClr val="58657A"/>
                </a:solidFill>
                <a:latin typeface="Aptos"/>
              </a:rPr>
              <a:t>Tavily / SerpAPI / NewsAPI / SQLite / PDF</a:t>
            </a:r>
          </a:p>
        </p:txBody>
      </p:sp>
      <p:sp>
        <p:nvSpPr>
          <p:cNvPr id="35" name="TextBox 34"/>
          <p:cNvSpPr txBox="1"/>
          <p:nvPr/>
        </p:nvSpPr>
        <p:spPr>
          <a:xfrm>
            <a:off x="7955279" y="5806440"/>
            <a:ext cx="2834640" cy="320040"/>
          </a:xfrm>
          <a:prstGeom prst="rect">
            <a:avLst/>
          </a:prstGeom>
          <a:noFill/>
        </p:spPr>
        <p:txBody>
          <a:bodyPr wrap="square" lIns="36576" tIns="36576" rIns="36576" bIns="36576" anchor="t">
            <a:spAutoFit/>
          </a:bodyPr>
          <a:lstStyle/>
          <a:p>
            <a:pPr algn="r"/>
            <a:r>
              <a:rPr sz="1050" b="0">
                <a:solidFill>
                  <a:srgbClr val="58657A"/>
                </a:solidFill>
                <a:latin typeface="Aptos"/>
              </a:rPr>
              <a:t>Optional: Groq • Gemini • Ollama</a:t>
            </a:r>
          </a:p>
        </p:txBody>
      </p:sp>
      <p:sp>
        <p:nvSpPr>
          <p:cNvPr id="36" name="TextBox 35"/>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58657A"/>
                </a:solidFill>
                <a:latin typeface="Aptos"/>
              </a:rPr>
              <a:t>GENESIS  /  AI-POWERED CLAIM VERIFICATION</a:t>
            </a:r>
          </a:p>
        </p:txBody>
      </p:sp>
      <p:sp>
        <p:nvSpPr>
          <p:cNvPr id="37" name="TextBox 36"/>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58657A"/>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926080" cy="228600"/>
          </a:xfrm>
          <a:prstGeom prst="rect">
            <a:avLst/>
          </a:prstGeom>
          <a:noFill/>
        </p:spPr>
        <p:txBody>
          <a:bodyPr wrap="square" lIns="36576" tIns="36576" rIns="36576" bIns="36576" anchor="t">
            <a:spAutoFit/>
          </a:bodyPr>
          <a:lstStyle/>
          <a:p>
            <a:pPr algn="l"/>
            <a:r>
              <a:rPr sz="1000" b="1">
                <a:solidFill>
                  <a:srgbClr val="D4A017"/>
                </a:solidFill>
                <a:latin typeface="Aptos"/>
              </a:rPr>
              <a:t>03 / STACK</a:t>
            </a:r>
          </a:p>
        </p:txBody>
      </p:sp>
      <p:sp>
        <p:nvSpPr>
          <p:cNvPr id="4" name="TextBox 3"/>
          <p:cNvSpPr txBox="1"/>
          <p:nvPr/>
        </p:nvSpPr>
        <p:spPr>
          <a:xfrm>
            <a:off x="594360" y="612648"/>
            <a:ext cx="10972800" cy="566928"/>
          </a:xfrm>
          <a:prstGeom prst="rect">
            <a:avLst/>
          </a:prstGeom>
          <a:noFill/>
        </p:spPr>
        <p:txBody>
          <a:bodyPr wrap="square" lIns="36576" tIns="36576" rIns="36576" bIns="36576" anchor="t">
            <a:spAutoFit/>
          </a:bodyPr>
          <a:lstStyle/>
          <a:p>
            <a:pPr algn="l"/>
            <a:r>
              <a:rPr sz="2800" b="1">
                <a:solidFill>
                  <a:srgbClr val="161E2D"/>
                </a:solidFill>
                <a:latin typeface="Aptos Display"/>
              </a:rPr>
              <a:t>Built as a full-stack AI product</a:t>
            </a:r>
          </a:p>
        </p:txBody>
      </p:sp>
      <p:sp>
        <p:nvSpPr>
          <p:cNvPr id="5" name="TextBox 4"/>
          <p:cNvSpPr txBox="1"/>
          <p:nvPr/>
        </p:nvSpPr>
        <p:spPr>
          <a:xfrm>
            <a:off x="612648" y="1216152"/>
            <a:ext cx="10607040" cy="347472"/>
          </a:xfrm>
          <a:prstGeom prst="rect">
            <a:avLst/>
          </a:prstGeom>
          <a:noFill/>
        </p:spPr>
        <p:txBody>
          <a:bodyPr wrap="square" lIns="36576" tIns="36576" rIns="36576" bIns="36576" anchor="t">
            <a:spAutoFit/>
          </a:bodyPr>
          <a:lstStyle/>
          <a:p>
            <a:pPr algn="l"/>
            <a:r>
              <a:rPr sz="1250" b="0">
                <a:solidFill>
                  <a:srgbClr val="58657A"/>
                </a:solidFill>
                <a:latin typeface="Aptos"/>
              </a:rPr>
              <a:t>Every category below maps to an active dependency, module, or configured integration.</a:t>
            </a:r>
          </a:p>
        </p:txBody>
      </p:sp>
      <p:sp>
        <p:nvSpPr>
          <p:cNvPr id="6" name="Rounded Rectangle 5"/>
          <p:cNvSpPr/>
          <p:nvPr/>
        </p:nvSpPr>
        <p:spPr>
          <a:xfrm>
            <a:off x="685800" y="1783080"/>
            <a:ext cx="3246120" cy="160020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783080"/>
            <a:ext cx="73152" cy="1600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84248"/>
            <a:ext cx="2743200" cy="256032"/>
          </a:xfrm>
          <a:prstGeom prst="rect">
            <a:avLst/>
          </a:prstGeom>
          <a:noFill/>
        </p:spPr>
        <p:txBody>
          <a:bodyPr wrap="square" lIns="36576" tIns="36576" rIns="36576" bIns="36576" anchor="t">
            <a:spAutoFit/>
          </a:bodyPr>
          <a:lstStyle/>
          <a:p>
            <a:pPr algn="l"/>
            <a:r>
              <a:rPr sz="1400" b="1">
                <a:solidFill>
                  <a:srgbClr val="161E2D"/>
                </a:solidFill>
                <a:latin typeface="Aptos"/>
              </a:rPr>
              <a:t>Frontend</a:t>
            </a:r>
          </a:p>
        </p:txBody>
      </p:sp>
      <p:sp>
        <p:nvSpPr>
          <p:cNvPr id="9" name="TextBox 8"/>
          <p:cNvSpPr txBox="1"/>
          <p:nvPr/>
        </p:nvSpPr>
        <p:spPr>
          <a:xfrm>
            <a:off x="914400" y="2377440"/>
            <a:ext cx="2743200" cy="786384"/>
          </a:xfrm>
          <a:prstGeom prst="rect">
            <a:avLst/>
          </a:prstGeom>
          <a:noFill/>
        </p:spPr>
        <p:txBody>
          <a:bodyPr wrap="square" lIns="36576" tIns="36576" rIns="36576" bIns="36576" anchor="t">
            <a:spAutoFit/>
          </a:bodyPr>
          <a:lstStyle/>
          <a:p>
            <a:pPr algn="l"/>
            <a:r>
              <a:rPr sz="1100" b="0">
                <a:solidFill>
                  <a:srgbClr val="58657A"/>
                </a:solidFill>
                <a:latin typeface="Aptos"/>
              </a:rPr>
              <a:t>React 19
React Router
Vite
Axios
Framer Motion</a:t>
            </a:r>
          </a:p>
        </p:txBody>
      </p:sp>
      <p:sp>
        <p:nvSpPr>
          <p:cNvPr id="10" name="Rounded Rectangle 9"/>
          <p:cNvSpPr/>
          <p:nvPr/>
        </p:nvSpPr>
        <p:spPr>
          <a:xfrm>
            <a:off x="4480560" y="1783080"/>
            <a:ext cx="3246120" cy="160020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80560" y="1783080"/>
            <a:ext cx="73152" cy="16002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9160" y="1984248"/>
            <a:ext cx="2743200" cy="256032"/>
          </a:xfrm>
          <a:prstGeom prst="rect">
            <a:avLst/>
          </a:prstGeom>
          <a:noFill/>
        </p:spPr>
        <p:txBody>
          <a:bodyPr wrap="square" lIns="36576" tIns="36576" rIns="36576" bIns="36576" anchor="t">
            <a:spAutoFit/>
          </a:bodyPr>
          <a:lstStyle/>
          <a:p>
            <a:pPr algn="l"/>
            <a:r>
              <a:rPr sz="1400" b="1">
                <a:solidFill>
                  <a:srgbClr val="161E2D"/>
                </a:solidFill>
                <a:latin typeface="Aptos"/>
              </a:rPr>
              <a:t>Backend</a:t>
            </a:r>
          </a:p>
        </p:txBody>
      </p:sp>
      <p:sp>
        <p:nvSpPr>
          <p:cNvPr id="13" name="TextBox 12"/>
          <p:cNvSpPr txBox="1"/>
          <p:nvPr/>
        </p:nvSpPr>
        <p:spPr>
          <a:xfrm>
            <a:off x="4709160" y="2377440"/>
            <a:ext cx="2743200" cy="786384"/>
          </a:xfrm>
          <a:prstGeom prst="rect">
            <a:avLst/>
          </a:prstGeom>
          <a:noFill/>
        </p:spPr>
        <p:txBody>
          <a:bodyPr wrap="square" lIns="36576" tIns="36576" rIns="36576" bIns="36576" anchor="t">
            <a:spAutoFit/>
          </a:bodyPr>
          <a:lstStyle/>
          <a:p>
            <a:pPr algn="l"/>
            <a:r>
              <a:rPr sz="1100" b="0">
                <a:solidFill>
                  <a:srgbClr val="58657A"/>
                </a:solidFill>
                <a:latin typeface="Aptos"/>
              </a:rPr>
              <a:t>Python
FastAPI
Uvicorn
Pydantic
SQLAlchemy</a:t>
            </a:r>
          </a:p>
        </p:txBody>
      </p:sp>
      <p:sp>
        <p:nvSpPr>
          <p:cNvPr id="14" name="Rounded Rectangle 13"/>
          <p:cNvSpPr/>
          <p:nvPr/>
        </p:nvSpPr>
        <p:spPr>
          <a:xfrm>
            <a:off x="8275320" y="1783080"/>
            <a:ext cx="3246120" cy="160020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75320" y="1783080"/>
            <a:ext cx="73152" cy="1600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0" y="1984248"/>
            <a:ext cx="2743200" cy="256032"/>
          </a:xfrm>
          <a:prstGeom prst="rect">
            <a:avLst/>
          </a:prstGeom>
          <a:noFill/>
        </p:spPr>
        <p:txBody>
          <a:bodyPr wrap="square" lIns="36576" tIns="36576" rIns="36576" bIns="36576" anchor="t">
            <a:spAutoFit/>
          </a:bodyPr>
          <a:lstStyle/>
          <a:p>
            <a:pPr algn="l"/>
            <a:r>
              <a:rPr sz="1400" b="1">
                <a:solidFill>
                  <a:srgbClr val="161E2D"/>
                </a:solidFill>
                <a:latin typeface="Aptos"/>
              </a:rPr>
              <a:t>AI + ML</a:t>
            </a:r>
          </a:p>
        </p:txBody>
      </p:sp>
      <p:sp>
        <p:nvSpPr>
          <p:cNvPr id="17" name="TextBox 16"/>
          <p:cNvSpPr txBox="1"/>
          <p:nvPr/>
        </p:nvSpPr>
        <p:spPr>
          <a:xfrm>
            <a:off x="8503920" y="2377440"/>
            <a:ext cx="2743200" cy="786384"/>
          </a:xfrm>
          <a:prstGeom prst="rect">
            <a:avLst/>
          </a:prstGeom>
          <a:noFill/>
        </p:spPr>
        <p:txBody>
          <a:bodyPr wrap="square" lIns="36576" tIns="36576" rIns="36576" bIns="36576" anchor="t">
            <a:spAutoFit/>
          </a:bodyPr>
          <a:lstStyle/>
          <a:p>
            <a:pPr algn="l"/>
            <a:r>
              <a:rPr sz="1100" b="0">
                <a:solidFill>
                  <a:srgbClr val="58657A"/>
                </a:solidFill>
                <a:latin typeface="Aptos"/>
              </a:rPr>
              <a:t>PyTorch
Transformers
DistilBERT
LangGraph
Groq / Gemini / Ollama</a:t>
            </a:r>
          </a:p>
        </p:txBody>
      </p:sp>
      <p:sp>
        <p:nvSpPr>
          <p:cNvPr id="18" name="Rounded Rectangle 17"/>
          <p:cNvSpPr/>
          <p:nvPr/>
        </p:nvSpPr>
        <p:spPr>
          <a:xfrm>
            <a:off x="685800" y="3840480"/>
            <a:ext cx="3246120" cy="160020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85800" y="3840480"/>
            <a:ext cx="73152" cy="160020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041648"/>
            <a:ext cx="2743200" cy="256032"/>
          </a:xfrm>
          <a:prstGeom prst="rect">
            <a:avLst/>
          </a:prstGeom>
          <a:noFill/>
        </p:spPr>
        <p:txBody>
          <a:bodyPr wrap="square" lIns="36576" tIns="36576" rIns="36576" bIns="36576" anchor="t">
            <a:spAutoFit/>
          </a:bodyPr>
          <a:lstStyle/>
          <a:p>
            <a:pPr algn="l"/>
            <a:r>
              <a:rPr sz="1400" b="1">
                <a:solidFill>
                  <a:srgbClr val="161E2D"/>
                </a:solidFill>
                <a:latin typeface="Aptos"/>
              </a:rPr>
              <a:t>Retrieval</a:t>
            </a:r>
          </a:p>
        </p:txBody>
      </p:sp>
      <p:sp>
        <p:nvSpPr>
          <p:cNvPr id="21" name="TextBox 20"/>
          <p:cNvSpPr txBox="1"/>
          <p:nvPr/>
        </p:nvSpPr>
        <p:spPr>
          <a:xfrm>
            <a:off x="914400" y="4434840"/>
            <a:ext cx="2743200" cy="786384"/>
          </a:xfrm>
          <a:prstGeom prst="rect">
            <a:avLst/>
          </a:prstGeom>
          <a:noFill/>
        </p:spPr>
        <p:txBody>
          <a:bodyPr wrap="square" lIns="36576" tIns="36576" rIns="36576" bIns="36576" anchor="t">
            <a:spAutoFit/>
          </a:bodyPr>
          <a:lstStyle/>
          <a:p>
            <a:pPr algn="l"/>
            <a:r>
              <a:rPr sz="1100" b="0">
                <a:solidFill>
                  <a:srgbClr val="58657A"/>
                </a:solidFill>
                <a:latin typeface="Aptos"/>
              </a:rPr>
              <a:t>Tavily
SerpAPI
NewsAPI
SentenceTransformers
FAISS abstraction</a:t>
            </a:r>
          </a:p>
        </p:txBody>
      </p:sp>
      <p:sp>
        <p:nvSpPr>
          <p:cNvPr id="22" name="Rounded Rectangle 21"/>
          <p:cNvSpPr/>
          <p:nvPr/>
        </p:nvSpPr>
        <p:spPr>
          <a:xfrm>
            <a:off x="4480560" y="3840480"/>
            <a:ext cx="3246120" cy="160020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480560" y="3840480"/>
            <a:ext cx="73152" cy="16002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09160" y="4041648"/>
            <a:ext cx="2743200" cy="256032"/>
          </a:xfrm>
          <a:prstGeom prst="rect">
            <a:avLst/>
          </a:prstGeom>
          <a:noFill/>
        </p:spPr>
        <p:txBody>
          <a:bodyPr wrap="square" lIns="36576" tIns="36576" rIns="36576" bIns="36576" anchor="t">
            <a:spAutoFit/>
          </a:bodyPr>
          <a:lstStyle/>
          <a:p>
            <a:pPr algn="l"/>
            <a:r>
              <a:rPr sz="1400" b="1">
                <a:solidFill>
                  <a:srgbClr val="161E2D"/>
                </a:solidFill>
                <a:latin typeface="Aptos"/>
              </a:rPr>
              <a:t>Storage + reports</a:t>
            </a:r>
          </a:p>
        </p:txBody>
      </p:sp>
      <p:sp>
        <p:nvSpPr>
          <p:cNvPr id="25" name="TextBox 24"/>
          <p:cNvSpPr txBox="1"/>
          <p:nvPr/>
        </p:nvSpPr>
        <p:spPr>
          <a:xfrm>
            <a:off x="4709160" y="4434840"/>
            <a:ext cx="2743200" cy="786384"/>
          </a:xfrm>
          <a:prstGeom prst="rect">
            <a:avLst/>
          </a:prstGeom>
          <a:noFill/>
        </p:spPr>
        <p:txBody>
          <a:bodyPr wrap="square" lIns="36576" tIns="36576" rIns="36576" bIns="36576" anchor="t">
            <a:spAutoFit/>
          </a:bodyPr>
          <a:lstStyle/>
          <a:p>
            <a:pPr algn="l"/>
            <a:r>
              <a:rPr sz="1100" b="0">
                <a:solidFill>
                  <a:srgbClr val="58657A"/>
                </a:solidFill>
                <a:latin typeface="Aptos"/>
              </a:rPr>
              <a:t>SQLite
JWT auth
ReportLab
JSON snapshots</a:t>
            </a:r>
          </a:p>
        </p:txBody>
      </p:sp>
      <p:sp>
        <p:nvSpPr>
          <p:cNvPr id="26" name="Rounded Rectangle 25"/>
          <p:cNvSpPr/>
          <p:nvPr/>
        </p:nvSpPr>
        <p:spPr>
          <a:xfrm>
            <a:off x="8275320" y="3840480"/>
            <a:ext cx="3246120" cy="160020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75320" y="3840480"/>
            <a:ext cx="73152" cy="1600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03920" y="4041648"/>
            <a:ext cx="2743200" cy="256032"/>
          </a:xfrm>
          <a:prstGeom prst="rect">
            <a:avLst/>
          </a:prstGeom>
          <a:noFill/>
        </p:spPr>
        <p:txBody>
          <a:bodyPr wrap="square" lIns="36576" tIns="36576" rIns="36576" bIns="36576" anchor="t">
            <a:spAutoFit/>
          </a:bodyPr>
          <a:lstStyle/>
          <a:p>
            <a:pPr algn="l"/>
            <a:r>
              <a:rPr sz="1400" b="1">
                <a:solidFill>
                  <a:srgbClr val="161E2D"/>
                </a:solidFill>
                <a:latin typeface="Aptos"/>
              </a:rPr>
              <a:t>Quality surface</a:t>
            </a:r>
          </a:p>
        </p:txBody>
      </p:sp>
      <p:sp>
        <p:nvSpPr>
          <p:cNvPr id="29" name="TextBox 28"/>
          <p:cNvSpPr txBox="1"/>
          <p:nvPr/>
        </p:nvSpPr>
        <p:spPr>
          <a:xfrm>
            <a:off x="8503920" y="4434840"/>
            <a:ext cx="2743200" cy="786384"/>
          </a:xfrm>
          <a:prstGeom prst="rect">
            <a:avLst/>
          </a:prstGeom>
          <a:noFill/>
        </p:spPr>
        <p:txBody>
          <a:bodyPr wrap="square" lIns="36576" tIns="36576" rIns="36576" bIns="36576" anchor="t">
            <a:spAutoFit/>
          </a:bodyPr>
          <a:lstStyle/>
          <a:p>
            <a:pPr algn="l"/>
            <a:r>
              <a:rPr sz="1100" b="0">
                <a:solidFill>
                  <a:srgbClr val="58657A"/>
                </a:solidFill>
                <a:latin typeface="Aptos"/>
              </a:rPr>
              <a:t>CORS
OpenAPI / Swagger
Environment config
Logging and metrics</a:t>
            </a:r>
          </a:p>
        </p:txBody>
      </p:sp>
      <p:sp>
        <p:nvSpPr>
          <p:cNvPr id="30" name="TextBox 29"/>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58657A"/>
                </a:solidFill>
                <a:latin typeface="Aptos"/>
              </a:rPr>
              <a:t>GENESIS  /  AI-POWERED CLAIM VERIFICATION</a:t>
            </a:r>
          </a:p>
        </p:txBody>
      </p:sp>
      <p:sp>
        <p:nvSpPr>
          <p:cNvPr id="31" name="TextBox 30"/>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58657A"/>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926080" cy="228600"/>
          </a:xfrm>
          <a:prstGeom prst="rect">
            <a:avLst/>
          </a:prstGeom>
          <a:noFill/>
        </p:spPr>
        <p:txBody>
          <a:bodyPr wrap="square" lIns="36576" tIns="36576" rIns="36576" bIns="36576" anchor="t">
            <a:spAutoFit/>
          </a:bodyPr>
          <a:lstStyle/>
          <a:p>
            <a:pPr algn="l"/>
            <a:r>
              <a:rPr sz="1000" b="1">
                <a:solidFill>
                  <a:srgbClr val="D4A017"/>
                </a:solidFill>
                <a:latin typeface="Aptos"/>
              </a:rPr>
              <a:t>04 / AI PIPELINE</a:t>
            </a:r>
          </a:p>
        </p:txBody>
      </p:sp>
      <p:sp>
        <p:nvSpPr>
          <p:cNvPr id="4" name="TextBox 3"/>
          <p:cNvSpPr txBox="1"/>
          <p:nvPr/>
        </p:nvSpPr>
        <p:spPr>
          <a:xfrm>
            <a:off x="594360" y="612648"/>
            <a:ext cx="10972800" cy="566928"/>
          </a:xfrm>
          <a:prstGeom prst="rect">
            <a:avLst/>
          </a:prstGeom>
          <a:noFill/>
        </p:spPr>
        <p:txBody>
          <a:bodyPr wrap="square" lIns="36576" tIns="36576" rIns="36576" bIns="36576" anchor="t">
            <a:spAutoFit/>
          </a:bodyPr>
          <a:lstStyle/>
          <a:p>
            <a:pPr algn="l"/>
            <a:r>
              <a:rPr sz="2800" b="1">
                <a:solidFill>
                  <a:srgbClr val="161E2D"/>
                </a:solidFill>
                <a:latin typeface="Aptos Display"/>
              </a:rPr>
              <a:t>The verification pipeline</a:t>
            </a:r>
          </a:p>
        </p:txBody>
      </p:sp>
      <p:sp>
        <p:nvSpPr>
          <p:cNvPr id="5" name="TextBox 4"/>
          <p:cNvSpPr txBox="1"/>
          <p:nvPr/>
        </p:nvSpPr>
        <p:spPr>
          <a:xfrm>
            <a:off x="612648" y="1216152"/>
            <a:ext cx="10607040" cy="347472"/>
          </a:xfrm>
          <a:prstGeom prst="rect">
            <a:avLst/>
          </a:prstGeom>
          <a:noFill/>
        </p:spPr>
        <p:txBody>
          <a:bodyPr wrap="square" lIns="36576" tIns="36576" rIns="36576" bIns="36576" anchor="t">
            <a:spAutoFit/>
          </a:bodyPr>
          <a:lstStyle/>
          <a:p>
            <a:pPr algn="l"/>
            <a:r>
              <a:rPr sz="1250" b="0">
                <a:solidFill>
                  <a:srgbClr val="58657A"/>
                </a:solidFill>
                <a:latin typeface="Aptos"/>
              </a:rPr>
              <a:t>A staged workflow that separates prediction, evidence, argument, and judgment.</a:t>
            </a:r>
          </a:p>
        </p:txBody>
      </p:sp>
      <p:sp>
        <p:nvSpPr>
          <p:cNvPr id="6" name="Oval 5"/>
          <p:cNvSpPr/>
          <p:nvPr/>
        </p:nvSpPr>
        <p:spPr>
          <a:xfrm>
            <a:off x="923544" y="2331720"/>
            <a:ext cx="713232" cy="71323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3544" y="2350008"/>
            <a:ext cx="713232" cy="694944"/>
          </a:xfrm>
          <a:prstGeom prst="rect">
            <a:avLst/>
          </a:prstGeom>
          <a:noFill/>
        </p:spPr>
        <p:txBody>
          <a:bodyPr wrap="square" lIns="36576" tIns="36576" rIns="36576" bIns="36576" anchor="ctr">
            <a:spAutoFit/>
          </a:bodyPr>
          <a:lstStyle/>
          <a:p>
            <a:pPr algn="ctr"/>
            <a:r>
              <a:rPr sz="1600" b="1">
                <a:solidFill>
                  <a:srgbClr val="FFFFFF"/>
                </a:solidFill>
                <a:latin typeface="Aptos"/>
              </a:rPr>
              <a:t>1</a:t>
            </a:r>
          </a:p>
        </p:txBody>
      </p:sp>
      <p:sp>
        <p:nvSpPr>
          <p:cNvPr id="8" name="TextBox 7"/>
          <p:cNvSpPr txBox="1"/>
          <p:nvPr/>
        </p:nvSpPr>
        <p:spPr>
          <a:xfrm>
            <a:off x="502920" y="3182112"/>
            <a:ext cx="1554480" cy="256032"/>
          </a:xfrm>
          <a:prstGeom prst="rect">
            <a:avLst/>
          </a:prstGeom>
          <a:noFill/>
        </p:spPr>
        <p:txBody>
          <a:bodyPr wrap="square" lIns="36576" tIns="36576" rIns="36576" bIns="36576" anchor="t">
            <a:spAutoFit/>
          </a:bodyPr>
          <a:lstStyle/>
          <a:p>
            <a:pPr algn="ctr"/>
            <a:r>
              <a:rPr sz="1250" b="1">
                <a:solidFill>
                  <a:srgbClr val="161E2D"/>
                </a:solidFill>
                <a:latin typeface="Aptos"/>
              </a:rPr>
              <a:t>Claim</a:t>
            </a:r>
          </a:p>
        </p:txBody>
      </p:sp>
      <p:sp>
        <p:nvSpPr>
          <p:cNvPr id="9" name="TextBox 8"/>
          <p:cNvSpPr txBox="1"/>
          <p:nvPr/>
        </p:nvSpPr>
        <p:spPr>
          <a:xfrm>
            <a:off x="502920" y="3493008"/>
            <a:ext cx="1554480" cy="475488"/>
          </a:xfrm>
          <a:prstGeom prst="rect">
            <a:avLst/>
          </a:prstGeom>
          <a:noFill/>
        </p:spPr>
        <p:txBody>
          <a:bodyPr wrap="square" lIns="36576" tIns="36576" rIns="36576" bIns="36576" anchor="t">
            <a:spAutoFit/>
          </a:bodyPr>
          <a:lstStyle/>
          <a:p>
            <a:pPr algn="ctr"/>
            <a:r>
              <a:rPr sz="930" b="0">
                <a:solidFill>
                  <a:srgbClr val="58657A"/>
                </a:solidFill>
                <a:latin typeface="Aptos"/>
              </a:rPr>
              <a:t>validate</a:t>
            </a:r>
          </a:p>
        </p:txBody>
      </p:sp>
      <p:cxnSp>
        <p:nvCxnSpPr>
          <p:cNvPr id="10" name="Connector 9"/>
          <p:cNvCxnSpPr/>
          <p:nvPr/>
        </p:nvCxnSpPr>
        <p:spPr>
          <a:xfrm>
            <a:off x="1737360" y="2688336"/>
            <a:ext cx="365760" cy="0"/>
          </a:xfrm>
          <a:prstGeom prst="line">
            <a:avLst/>
          </a:prstGeom>
          <a:ln w="19050">
            <a:solidFill>
              <a:srgbClr val="96A5BE"/>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587752" y="2331720"/>
            <a:ext cx="713232" cy="71323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87752" y="2350008"/>
            <a:ext cx="713232" cy="694944"/>
          </a:xfrm>
          <a:prstGeom prst="rect">
            <a:avLst/>
          </a:prstGeom>
          <a:noFill/>
        </p:spPr>
        <p:txBody>
          <a:bodyPr wrap="square" lIns="36576" tIns="36576" rIns="36576" bIns="36576" anchor="ctr">
            <a:spAutoFit/>
          </a:bodyPr>
          <a:lstStyle/>
          <a:p>
            <a:pPr algn="ctr"/>
            <a:r>
              <a:rPr sz="1600" b="1">
                <a:solidFill>
                  <a:srgbClr val="FFFFFF"/>
                </a:solidFill>
                <a:latin typeface="Aptos"/>
              </a:rPr>
              <a:t>2</a:t>
            </a:r>
          </a:p>
        </p:txBody>
      </p:sp>
      <p:sp>
        <p:nvSpPr>
          <p:cNvPr id="13" name="TextBox 12"/>
          <p:cNvSpPr txBox="1"/>
          <p:nvPr/>
        </p:nvSpPr>
        <p:spPr>
          <a:xfrm>
            <a:off x="2167128" y="3182112"/>
            <a:ext cx="1554480" cy="256032"/>
          </a:xfrm>
          <a:prstGeom prst="rect">
            <a:avLst/>
          </a:prstGeom>
          <a:noFill/>
        </p:spPr>
        <p:txBody>
          <a:bodyPr wrap="square" lIns="36576" tIns="36576" rIns="36576" bIns="36576" anchor="t">
            <a:spAutoFit/>
          </a:bodyPr>
          <a:lstStyle/>
          <a:p>
            <a:pPr algn="ctr"/>
            <a:r>
              <a:rPr sz="1250" b="1">
                <a:solidFill>
                  <a:srgbClr val="161E2D"/>
                </a:solidFill>
                <a:latin typeface="Aptos"/>
              </a:rPr>
              <a:t>Preprocess</a:t>
            </a:r>
          </a:p>
        </p:txBody>
      </p:sp>
      <p:sp>
        <p:nvSpPr>
          <p:cNvPr id="14" name="TextBox 13"/>
          <p:cNvSpPr txBox="1"/>
          <p:nvPr/>
        </p:nvSpPr>
        <p:spPr>
          <a:xfrm>
            <a:off x="2167128" y="3493008"/>
            <a:ext cx="1554480" cy="475488"/>
          </a:xfrm>
          <a:prstGeom prst="rect">
            <a:avLst/>
          </a:prstGeom>
          <a:noFill/>
        </p:spPr>
        <p:txBody>
          <a:bodyPr wrap="square" lIns="36576" tIns="36576" rIns="36576" bIns="36576" anchor="t">
            <a:spAutoFit/>
          </a:bodyPr>
          <a:lstStyle/>
          <a:p>
            <a:pPr algn="ctr"/>
            <a:r>
              <a:rPr sz="930" b="0">
                <a:solidFill>
                  <a:srgbClr val="58657A"/>
                </a:solidFill>
                <a:latin typeface="Aptos"/>
              </a:rPr>
              <a:t>decompose</a:t>
            </a:r>
          </a:p>
        </p:txBody>
      </p:sp>
      <p:cxnSp>
        <p:nvCxnSpPr>
          <p:cNvPr id="15" name="Connector 14"/>
          <p:cNvCxnSpPr/>
          <p:nvPr/>
        </p:nvCxnSpPr>
        <p:spPr>
          <a:xfrm>
            <a:off x="3401568" y="2688336"/>
            <a:ext cx="365760" cy="0"/>
          </a:xfrm>
          <a:prstGeom prst="line">
            <a:avLst/>
          </a:prstGeom>
          <a:ln w="19050">
            <a:solidFill>
              <a:srgbClr val="96A5BE"/>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251960" y="2331720"/>
            <a:ext cx="713232" cy="71323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51960" y="2350008"/>
            <a:ext cx="713232" cy="694944"/>
          </a:xfrm>
          <a:prstGeom prst="rect">
            <a:avLst/>
          </a:prstGeom>
          <a:noFill/>
        </p:spPr>
        <p:txBody>
          <a:bodyPr wrap="square" lIns="36576" tIns="36576" rIns="36576" bIns="36576" anchor="ctr">
            <a:spAutoFit/>
          </a:bodyPr>
          <a:lstStyle/>
          <a:p>
            <a:pPr algn="ctr"/>
            <a:r>
              <a:rPr sz="1600" b="1">
                <a:solidFill>
                  <a:srgbClr val="FFFFFF"/>
                </a:solidFill>
                <a:latin typeface="Aptos"/>
              </a:rPr>
              <a:t>3</a:t>
            </a:r>
          </a:p>
        </p:txBody>
      </p:sp>
      <p:sp>
        <p:nvSpPr>
          <p:cNvPr id="18" name="TextBox 17"/>
          <p:cNvSpPr txBox="1"/>
          <p:nvPr/>
        </p:nvSpPr>
        <p:spPr>
          <a:xfrm>
            <a:off x="3831336" y="3182112"/>
            <a:ext cx="1554480" cy="256032"/>
          </a:xfrm>
          <a:prstGeom prst="rect">
            <a:avLst/>
          </a:prstGeom>
          <a:noFill/>
        </p:spPr>
        <p:txBody>
          <a:bodyPr wrap="square" lIns="36576" tIns="36576" rIns="36576" bIns="36576" anchor="t">
            <a:spAutoFit/>
          </a:bodyPr>
          <a:lstStyle/>
          <a:p>
            <a:pPr algn="ctr"/>
            <a:r>
              <a:rPr sz="1250" b="1">
                <a:solidFill>
                  <a:srgbClr val="161E2D"/>
                </a:solidFill>
                <a:latin typeface="Aptos"/>
              </a:rPr>
              <a:t>Search</a:t>
            </a:r>
          </a:p>
        </p:txBody>
      </p:sp>
      <p:sp>
        <p:nvSpPr>
          <p:cNvPr id="19" name="TextBox 18"/>
          <p:cNvSpPr txBox="1"/>
          <p:nvPr/>
        </p:nvSpPr>
        <p:spPr>
          <a:xfrm>
            <a:off x="3831336" y="3493008"/>
            <a:ext cx="1554480" cy="475488"/>
          </a:xfrm>
          <a:prstGeom prst="rect">
            <a:avLst/>
          </a:prstGeom>
          <a:noFill/>
        </p:spPr>
        <p:txBody>
          <a:bodyPr wrap="square" lIns="36576" tIns="36576" rIns="36576" bIns="36576" anchor="t">
            <a:spAutoFit/>
          </a:bodyPr>
          <a:lstStyle/>
          <a:p>
            <a:pPr algn="ctr"/>
            <a:r>
              <a:rPr sz="930" b="0">
                <a:solidFill>
                  <a:srgbClr val="58657A"/>
                </a:solidFill>
                <a:latin typeface="Aptos"/>
              </a:rPr>
              <a:t>retrieve</a:t>
            </a:r>
          </a:p>
        </p:txBody>
      </p:sp>
      <p:cxnSp>
        <p:nvCxnSpPr>
          <p:cNvPr id="20" name="Connector 19"/>
          <p:cNvCxnSpPr/>
          <p:nvPr/>
        </p:nvCxnSpPr>
        <p:spPr>
          <a:xfrm>
            <a:off x="5065776" y="2688336"/>
            <a:ext cx="365760" cy="0"/>
          </a:xfrm>
          <a:prstGeom prst="line">
            <a:avLst/>
          </a:prstGeom>
          <a:ln w="19050">
            <a:solidFill>
              <a:srgbClr val="96A5BE"/>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916168" y="2331720"/>
            <a:ext cx="713232" cy="713232"/>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16168" y="2350008"/>
            <a:ext cx="713232" cy="694944"/>
          </a:xfrm>
          <a:prstGeom prst="rect">
            <a:avLst/>
          </a:prstGeom>
          <a:noFill/>
        </p:spPr>
        <p:txBody>
          <a:bodyPr wrap="square" lIns="36576" tIns="36576" rIns="36576" bIns="36576" anchor="ctr">
            <a:spAutoFit/>
          </a:bodyPr>
          <a:lstStyle/>
          <a:p>
            <a:pPr algn="ctr"/>
            <a:r>
              <a:rPr sz="1600" b="1">
                <a:solidFill>
                  <a:srgbClr val="FFFFFF"/>
                </a:solidFill>
                <a:latin typeface="Aptos"/>
              </a:rPr>
              <a:t>4</a:t>
            </a:r>
          </a:p>
        </p:txBody>
      </p:sp>
      <p:sp>
        <p:nvSpPr>
          <p:cNvPr id="23" name="TextBox 22"/>
          <p:cNvSpPr txBox="1"/>
          <p:nvPr/>
        </p:nvSpPr>
        <p:spPr>
          <a:xfrm>
            <a:off x="5495544" y="3182112"/>
            <a:ext cx="1554480" cy="256032"/>
          </a:xfrm>
          <a:prstGeom prst="rect">
            <a:avLst/>
          </a:prstGeom>
          <a:noFill/>
        </p:spPr>
        <p:txBody>
          <a:bodyPr wrap="square" lIns="36576" tIns="36576" rIns="36576" bIns="36576" anchor="t">
            <a:spAutoFit/>
          </a:bodyPr>
          <a:lstStyle/>
          <a:p>
            <a:pPr algn="ctr"/>
            <a:r>
              <a:rPr sz="1250" b="1">
                <a:solidFill>
                  <a:srgbClr val="161E2D"/>
                </a:solidFill>
                <a:latin typeface="Aptos"/>
              </a:rPr>
              <a:t>Rank</a:t>
            </a:r>
          </a:p>
        </p:txBody>
      </p:sp>
      <p:sp>
        <p:nvSpPr>
          <p:cNvPr id="24" name="TextBox 23"/>
          <p:cNvSpPr txBox="1"/>
          <p:nvPr/>
        </p:nvSpPr>
        <p:spPr>
          <a:xfrm>
            <a:off x="5495544" y="3493008"/>
            <a:ext cx="1554480" cy="475488"/>
          </a:xfrm>
          <a:prstGeom prst="rect">
            <a:avLst/>
          </a:prstGeom>
          <a:noFill/>
        </p:spPr>
        <p:txBody>
          <a:bodyPr wrap="square" lIns="36576" tIns="36576" rIns="36576" bIns="36576" anchor="t">
            <a:spAutoFit/>
          </a:bodyPr>
          <a:lstStyle/>
          <a:p>
            <a:pPr algn="ctr"/>
            <a:r>
              <a:rPr sz="930" b="0">
                <a:solidFill>
                  <a:srgbClr val="58657A"/>
                </a:solidFill>
                <a:latin typeface="Aptos"/>
              </a:rPr>
              <a:t>relevance + credibility + recency</a:t>
            </a:r>
          </a:p>
        </p:txBody>
      </p:sp>
      <p:cxnSp>
        <p:nvCxnSpPr>
          <p:cNvPr id="25" name="Connector 24"/>
          <p:cNvCxnSpPr/>
          <p:nvPr/>
        </p:nvCxnSpPr>
        <p:spPr>
          <a:xfrm>
            <a:off x="6729983" y="2688336"/>
            <a:ext cx="365761" cy="0"/>
          </a:xfrm>
          <a:prstGeom prst="line">
            <a:avLst/>
          </a:prstGeom>
          <a:ln w="19050">
            <a:solidFill>
              <a:srgbClr val="96A5BE"/>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7580376" y="2331720"/>
            <a:ext cx="713232" cy="713232"/>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580376" y="2350008"/>
            <a:ext cx="713232" cy="694944"/>
          </a:xfrm>
          <a:prstGeom prst="rect">
            <a:avLst/>
          </a:prstGeom>
          <a:noFill/>
        </p:spPr>
        <p:txBody>
          <a:bodyPr wrap="square" lIns="36576" tIns="36576" rIns="36576" bIns="36576" anchor="ctr">
            <a:spAutoFit/>
          </a:bodyPr>
          <a:lstStyle/>
          <a:p>
            <a:pPr algn="ctr"/>
            <a:r>
              <a:rPr sz="1600" b="1">
                <a:solidFill>
                  <a:srgbClr val="FFFFFF"/>
                </a:solidFill>
                <a:latin typeface="Aptos"/>
              </a:rPr>
              <a:t>5</a:t>
            </a:r>
          </a:p>
        </p:txBody>
      </p:sp>
      <p:sp>
        <p:nvSpPr>
          <p:cNvPr id="28" name="TextBox 27"/>
          <p:cNvSpPr txBox="1"/>
          <p:nvPr/>
        </p:nvSpPr>
        <p:spPr>
          <a:xfrm>
            <a:off x="7159752" y="3182112"/>
            <a:ext cx="1554480" cy="256032"/>
          </a:xfrm>
          <a:prstGeom prst="rect">
            <a:avLst/>
          </a:prstGeom>
          <a:noFill/>
        </p:spPr>
        <p:txBody>
          <a:bodyPr wrap="square" lIns="36576" tIns="36576" rIns="36576" bIns="36576" anchor="t">
            <a:spAutoFit/>
          </a:bodyPr>
          <a:lstStyle/>
          <a:p>
            <a:pPr algn="ctr"/>
            <a:r>
              <a:rPr sz="1250" b="1">
                <a:solidFill>
                  <a:srgbClr val="161E2D"/>
                </a:solidFill>
                <a:latin typeface="Aptos"/>
              </a:rPr>
              <a:t>Debate</a:t>
            </a:r>
          </a:p>
        </p:txBody>
      </p:sp>
      <p:sp>
        <p:nvSpPr>
          <p:cNvPr id="29" name="TextBox 28"/>
          <p:cNvSpPr txBox="1"/>
          <p:nvPr/>
        </p:nvSpPr>
        <p:spPr>
          <a:xfrm>
            <a:off x="7159752" y="3493008"/>
            <a:ext cx="1554480" cy="475488"/>
          </a:xfrm>
          <a:prstGeom prst="rect">
            <a:avLst/>
          </a:prstGeom>
          <a:noFill/>
        </p:spPr>
        <p:txBody>
          <a:bodyPr wrap="square" lIns="36576" tIns="36576" rIns="36576" bIns="36576" anchor="t">
            <a:spAutoFit/>
          </a:bodyPr>
          <a:lstStyle/>
          <a:p>
            <a:pPr algn="ctr"/>
            <a:r>
              <a:rPr sz="930" b="0">
                <a:solidFill>
                  <a:srgbClr val="58657A"/>
                </a:solidFill>
                <a:latin typeface="Aptos"/>
              </a:rPr>
              <a:t>prosecutor ↔ defender</a:t>
            </a:r>
          </a:p>
        </p:txBody>
      </p:sp>
      <p:cxnSp>
        <p:nvCxnSpPr>
          <p:cNvPr id="30" name="Connector 29"/>
          <p:cNvCxnSpPr/>
          <p:nvPr/>
        </p:nvCxnSpPr>
        <p:spPr>
          <a:xfrm>
            <a:off x="8394192" y="2688336"/>
            <a:ext cx="365760" cy="0"/>
          </a:xfrm>
          <a:prstGeom prst="line">
            <a:avLst/>
          </a:prstGeom>
          <a:ln w="19050">
            <a:solidFill>
              <a:srgbClr val="96A5BE"/>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244584" y="2331720"/>
            <a:ext cx="713232" cy="71323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244584" y="2350008"/>
            <a:ext cx="713232" cy="694944"/>
          </a:xfrm>
          <a:prstGeom prst="rect">
            <a:avLst/>
          </a:prstGeom>
          <a:noFill/>
        </p:spPr>
        <p:txBody>
          <a:bodyPr wrap="square" lIns="36576" tIns="36576" rIns="36576" bIns="36576" anchor="ctr">
            <a:spAutoFit/>
          </a:bodyPr>
          <a:lstStyle/>
          <a:p>
            <a:pPr algn="ctr"/>
            <a:r>
              <a:rPr sz="1600" b="1">
                <a:solidFill>
                  <a:srgbClr val="FFFFFF"/>
                </a:solidFill>
                <a:latin typeface="Aptos"/>
              </a:rPr>
              <a:t>6</a:t>
            </a:r>
          </a:p>
        </p:txBody>
      </p:sp>
      <p:sp>
        <p:nvSpPr>
          <p:cNvPr id="33" name="TextBox 32"/>
          <p:cNvSpPr txBox="1"/>
          <p:nvPr/>
        </p:nvSpPr>
        <p:spPr>
          <a:xfrm>
            <a:off x="8823960" y="3182112"/>
            <a:ext cx="1554480" cy="256032"/>
          </a:xfrm>
          <a:prstGeom prst="rect">
            <a:avLst/>
          </a:prstGeom>
          <a:noFill/>
        </p:spPr>
        <p:txBody>
          <a:bodyPr wrap="square" lIns="36576" tIns="36576" rIns="36576" bIns="36576" anchor="t">
            <a:spAutoFit/>
          </a:bodyPr>
          <a:lstStyle/>
          <a:p>
            <a:pPr algn="ctr"/>
            <a:r>
              <a:rPr sz="1250" b="1">
                <a:solidFill>
                  <a:srgbClr val="161E2D"/>
                </a:solidFill>
                <a:latin typeface="Aptos"/>
              </a:rPr>
              <a:t>Judge</a:t>
            </a:r>
          </a:p>
        </p:txBody>
      </p:sp>
      <p:sp>
        <p:nvSpPr>
          <p:cNvPr id="34" name="TextBox 33"/>
          <p:cNvSpPr txBox="1"/>
          <p:nvPr/>
        </p:nvSpPr>
        <p:spPr>
          <a:xfrm>
            <a:off x="8823960" y="3493008"/>
            <a:ext cx="1554480" cy="475488"/>
          </a:xfrm>
          <a:prstGeom prst="rect">
            <a:avLst/>
          </a:prstGeom>
          <a:noFill/>
        </p:spPr>
        <p:txBody>
          <a:bodyPr wrap="square" lIns="36576" tIns="36576" rIns="36576" bIns="36576" anchor="t">
            <a:spAutoFit/>
          </a:bodyPr>
          <a:lstStyle/>
          <a:p>
            <a:pPr algn="ctr"/>
            <a:r>
              <a:rPr sz="930" b="0">
                <a:solidFill>
                  <a:srgbClr val="58657A"/>
                </a:solidFill>
                <a:latin typeface="Aptos"/>
              </a:rPr>
              <a:t>synthesize</a:t>
            </a:r>
          </a:p>
        </p:txBody>
      </p:sp>
      <p:cxnSp>
        <p:nvCxnSpPr>
          <p:cNvPr id="35" name="Connector 34"/>
          <p:cNvCxnSpPr/>
          <p:nvPr/>
        </p:nvCxnSpPr>
        <p:spPr>
          <a:xfrm>
            <a:off x="10058400" y="2688336"/>
            <a:ext cx="365760" cy="0"/>
          </a:xfrm>
          <a:prstGeom prst="line">
            <a:avLst/>
          </a:prstGeom>
          <a:ln w="19050">
            <a:solidFill>
              <a:srgbClr val="96A5BE"/>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0908792" y="2331720"/>
            <a:ext cx="713232" cy="71323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908792" y="2350008"/>
            <a:ext cx="713232" cy="694944"/>
          </a:xfrm>
          <a:prstGeom prst="rect">
            <a:avLst/>
          </a:prstGeom>
          <a:noFill/>
        </p:spPr>
        <p:txBody>
          <a:bodyPr wrap="square" lIns="36576" tIns="36576" rIns="36576" bIns="36576" anchor="ctr">
            <a:spAutoFit/>
          </a:bodyPr>
          <a:lstStyle/>
          <a:p>
            <a:pPr algn="ctr"/>
            <a:r>
              <a:rPr sz="1600" b="1">
                <a:solidFill>
                  <a:srgbClr val="FFFFFF"/>
                </a:solidFill>
                <a:latin typeface="Aptos"/>
              </a:rPr>
              <a:t>7</a:t>
            </a:r>
          </a:p>
        </p:txBody>
      </p:sp>
      <p:sp>
        <p:nvSpPr>
          <p:cNvPr id="38" name="TextBox 37"/>
          <p:cNvSpPr txBox="1"/>
          <p:nvPr/>
        </p:nvSpPr>
        <p:spPr>
          <a:xfrm>
            <a:off x="10488168" y="3182112"/>
            <a:ext cx="1554480" cy="256032"/>
          </a:xfrm>
          <a:prstGeom prst="rect">
            <a:avLst/>
          </a:prstGeom>
          <a:noFill/>
        </p:spPr>
        <p:txBody>
          <a:bodyPr wrap="square" lIns="36576" tIns="36576" rIns="36576" bIns="36576" anchor="t">
            <a:spAutoFit/>
          </a:bodyPr>
          <a:lstStyle/>
          <a:p>
            <a:pPr algn="ctr"/>
            <a:r>
              <a:rPr sz="1250" b="1">
                <a:solidFill>
                  <a:srgbClr val="161E2D"/>
                </a:solidFill>
                <a:latin typeface="Aptos"/>
              </a:rPr>
              <a:t>Output</a:t>
            </a:r>
          </a:p>
        </p:txBody>
      </p:sp>
      <p:sp>
        <p:nvSpPr>
          <p:cNvPr id="39" name="TextBox 38"/>
          <p:cNvSpPr txBox="1"/>
          <p:nvPr/>
        </p:nvSpPr>
        <p:spPr>
          <a:xfrm>
            <a:off x="10488168" y="3493008"/>
            <a:ext cx="1554480" cy="475488"/>
          </a:xfrm>
          <a:prstGeom prst="rect">
            <a:avLst/>
          </a:prstGeom>
          <a:noFill/>
        </p:spPr>
        <p:txBody>
          <a:bodyPr wrap="square" lIns="36576" tIns="36576" rIns="36576" bIns="36576" anchor="t">
            <a:spAutoFit/>
          </a:bodyPr>
          <a:lstStyle/>
          <a:p>
            <a:pPr algn="ctr"/>
            <a:r>
              <a:rPr sz="930" b="0">
                <a:solidFill>
                  <a:srgbClr val="58657A"/>
                </a:solidFill>
                <a:latin typeface="Aptos"/>
              </a:rPr>
              <a:t>verdict + confidence</a:t>
            </a:r>
          </a:p>
        </p:txBody>
      </p:sp>
      <p:sp>
        <p:nvSpPr>
          <p:cNvPr id="40" name="Rounded Rectangle 39"/>
          <p:cNvSpPr/>
          <p:nvPr/>
        </p:nvSpPr>
        <p:spPr>
          <a:xfrm>
            <a:off x="1143000" y="4663440"/>
            <a:ext cx="9875520" cy="731520"/>
          </a:xfrm>
          <a:prstGeom prst="roundRect">
            <a:avLst/>
          </a:prstGeom>
          <a:solidFill>
            <a:srgbClr val="F6F9FD"/>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71600" y="4873752"/>
            <a:ext cx="9418320" cy="274320"/>
          </a:xfrm>
          <a:prstGeom prst="rect">
            <a:avLst/>
          </a:prstGeom>
          <a:noFill/>
        </p:spPr>
        <p:txBody>
          <a:bodyPr wrap="square" lIns="36576" tIns="36576" rIns="36576" bIns="36576" anchor="t">
            <a:spAutoFit/>
          </a:bodyPr>
          <a:lstStyle/>
          <a:p>
            <a:pPr algn="ctr"/>
            <a:r>
              <a:rPr sz="1400" b="1">
                <a:solidFill>
                  <a:srgbClr val="4F46E5"/>
                </a:solidFill>
                <a:latin typeface="Aptos"/>
              </a:rPr>
              <a:t>DistilBERT is advisory context; the final verdict is shaped by evidence, agent outputs, deterministic rules, and post-processing.</a:t>
            </a:r>
          </a:p>
        </p:txBody>
      </p:sp>
      <p:sp>
        <p:nvSpPr>
          <p:cNvPr id="42" name="TextBox 41"/>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58657A"/>
                </a:solidFill>
                <a:latin typeface="Aptos"/>
              </a:rPr>
              <a:t>GENESIS  /  AI-POWERED CLAIM VERIFICATION</a:t>
            </a:r>
          </a:p>
        </p:txBody>
      </p:sp>
      <p:sp>
        <p:nvSpPr>
          <p:cNvPr id="43" name="TextBox 42"/>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58657A"/>
                </a:solidFill>
                <a:latin typeface="Aptos"/>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926080" cy="228600"/>
          </a:xfrm>
          <a:prstGeom prst="rect">
            <a:avLst/>
          </a:prstGeom>
          <a:noFill/>
        </p:spPr>
        <p:txBody>
          <a:bodyPr wrap="square" lIns="36576" tIns="36576" rIns="36576" bIns="36576" anchor="t">
            <a:spAutoFit/>
          </a:bodyPr>
          <a:lstStyle/>
          <a:p>
            <a:pPr algn="l"/>
            <a:r>
              <a:rPr sz="1000" b="1">
                <a:solidFill>
                  <a:srgbClr val="D4A017"/>
                </a:solidFill>
                <a:latin typeface="Aptos"/>
              </a:rPr>
              <a:t>05 / PRODUCT SURFACE</a:t>
            </a:r>
          </a:p>
        </p:txBody>
      </p:sp>
      <p:sp>
        <p:nvSpPr>
          <p:cNvPr id="4" name="TextBox 3"/>
          <p:cNvSpPr txBox="1"/>
          <p:nvPr/>
        </p:nvSpPr>
        <p:spPr>
          <a:xfrm>
            <a:off x="594360" y="612648"/>
            <a:ext cx="10972800" cy="566928"/>
          </a:xfrm>
          <a:prstGeom prst="rect">
            <a:avLst/>
          </a:prstGeom>
          <a:noFill/>
        </p:spPr>
        <p:txBody>
          <a:bodyPr wrap="square" lIns="36576" tIns="36576" rIns="36576" bIns="36576" anchor="t">
            <a:spAutoFit/>
          </a:bodyPr>
          <a:lstStyle/>
          <a:p>
            <a:pPr algn="l"/>
            <a:r>
              <a:rPr sz="2800" b="1">
                <a:solidFill>
                  <a:srgbClr val="161E2D"/>
                </a:solidFill>
                <a:latin typeface="Aptos Display"/>
              </a:rPr>
              <a:t>What Genesis already delivers</a:t>
            </a:r>
          </a:p>
        </p:txBody>
      </p:sp>
      <p:sp>
        <p:nvSpPr>
          <p:cNvPr id="5" name="TextBox 4"/>
          <p:cNvSpPr txBox="1"/>
          <p:nvPr/>
        </p:nvSpPr>
        <p:spPr>
          <a:xfrm>
            <a:off x="612648" y="1216152"/>
            <a:ext cx="10607040" cy="347472"/>
          </a:xfrm>
          <a:prstGeom prst="rect">
            <a:avLst/>
          </a:prstGeom>
          <a:noFill/>
        </p:spPr>
        <p:txBody>
          <a:bodyPr wrap="square" lIns="36576" tIns="36576" rIns="36576" bIns="36576" anchor="t">
            <a:spAutoFit/>
          </a:bodyPr>
          <a:lstStyle/>
          <a:p>
            <a:pPr algn="l"/>
            <a:r>
              <a:rPr sz="1250" b="0">
                <a:solidFill>
                  <a:srgbClr val="58657A"/>
                </a:solidFill>
                <a:latin typeface="Aptos"/>
              </a:rPr>
              <a:t>Feature claims below are grounded in active routes, components, services, or persistence models.</a:t>
            </a:r>
          </a:p>
        </p:txBody>
      </p:sp>
      <p:sp>
        <p:nvSpPr>
          <p:cNvPr id="6" name="Rounded Rectangle 5"/>
          <p:cNvSpPr/>
          <p:nvPr/>
        </p:nvSpPr>
        <p:spPr>
          <a:xfrm>
            <a:off x="658368" y="1719072"/>
            <a:ext cx="2468880" cy="14173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59536" y="1947672"/>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1965960"/>
            <a:ext cx="310896" cy="292608"/>
          </a:xfrm>
          <a:prstGeom prst="rect">
            <a:avLst/>
          </a:prstGeom>
          <a:noFill/>
        </p:spPr>
        <p:txBody>
          <a:bodyPr wrap="square" lIns="36576" tIns="36576" rIns="36576" bIns="36576" anchor="ctr">
            <a:spAutoFit/>
          </a:bodyPr>
          <a:lstStyle/>
          <a:p>
            <a:pPr algn="ctr"/>
            <a:r>
              <a:rPr sz="1400" b="1">
                <a:solidFill>
                  <a:srgbClr val="FFFFFF"/>
                </a:solidFill>
                <a:latin typeface="Aptos"/>
              </a:rPr>
              <a:t>↗</a:t>
            </a:r>
          </a:p>
        </p:txBody>
      </p:sp>
      <p:sp>
        <p:nvSpPr>
          <p:cNvPr id="9" name="TextBox 8"/>
          <p:cNvSpPr txBox="1"/>
          <p:nvPr/>
        </p:nvSpPr>
        <p:spPr>
          <a:xfrm>
            <a:off x="1280160" y="1920240"/>
            <a:ext cx="1645920" cy="256032"/>
          </a:xfrm>
          <a:prstGeom prst="rect">
            <a:avLst/>
          </a:prstGeom>
          <a:noFill/>
        </p:spPr>
        <p:txBody>
          <a:bodyPr wrap="square" lIns="36576" tIns="36576" rIns="36576" bIns="36576" anchor="t">
            <a:spAutoFit/>
          </a:bodyPr>
          <a:lstStyle/>
          <a:p>
            <a:pPr algn="l"/>
            <a:r>
              <a:rPr sz="1300" b="1">
                <a:solidFill>
                  <a:srgbClr val="161E2D"/>
                </a:solidFill>
                <a:latin typeface="Aptos"/>
              </a:rPr>
              <a:t>Live claim verification</a:t>
            </a:r>
          </a:p>
        </p:txBody>
      </p:sp>
      <p:sp>
        <p:nvSpPr>
          <p:cNvPr id="10" name="TextBox 9"/>
          <p:cNvSpPr txBox="1"/>
          <p:nvPr/>
        </p:nvSpPr>
        <p:spPr>
          <a:xfrm>
            <a:off x="859536" y="2359152"/>
            <a:ext cx="2066544" cy="667512"/>
          </a:xfrm>
          <a:prstGeom prst="rect">
            <a:avLst/>
          </a:prstGeom>
          <a:noFill/>
        </p:spPr>
        <p:txBody>
          <a:bodyPr wrap="square" lIns="36576" tIns="36576" rIns="36576" bIns="36576" anchor="t">
            <a:spAutoFit/>
          </a:bodyPr>
          <a:lstStyle/>
          <a:p>
            <a:pPr algn="l"/>
            <a:r>
              <a:rPr sz="1050" b="0">
                <a:solidFill>
                  <a:srgbClr val="58657A"/>
                </a:solidFill>
                <a:latin typeface="Aptos"/>
              </a:rPr>
              <a:t>POST /api/verify with staged pipeline status.</a:t>
            </a:r>
          </a:p>
        </p:txBody>
      </p:sp>
      <p:sp>
        <p:nvSpPr>
          <p:cNvPr id="11" name="Rounded Rectangle 10"/>
          <p:cNvSpPr/>
          <p:nvPr/>
        </p:nvSpPr>
        <p:spPr>
          <a:xfrm>
            <a:off x="3493008" y="1719072"/>
            <a:ext cx="2468880" cy="14173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94176" y="1947672"/>
            <a:ext cx="310896" cy="310896"/>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94176" y="1965960"/>
            <a:ext cx="310896" cy="292608"/>
          </a:xfrm>
          <a:prstGeom prst="rect">
            <a:avLst/>
          </a:prstGeom>
          <a:noFill/>
        </p:spPr>
        <p:txBody>
          <a:bodyPr wrap="square" lIns="36576" tIns="36576" rIns="36576" bIns="36576" anchor="ctr">
            <a:spAutoFit/>
          </a:bodyPr>
          <a:lstStyle/>
          <a:p>
            <a:pPr algn="ctr"/>
            <a:r>
              <a:rPr sz="1400" b="1">
                <a:solidFill>
                  <a:srgbClr val="FFFFFF"/>
                </a:solidFill>
                <a:latin typeface="Aptos"/>
              </a:rPr>
              <a:t>◈</a:t>
            </a:r>
          </a:p>
        </p:txBody>
      </p:sp>
      <p:sp>
        <p:nvSpPr>
          <p:cNvPr id="14" name="TextBox 13"/>
          <p:cNvSpPr txBox="1"/>
          <p:nvPr/>
        </p:nvSpPr>
        <p:spPr>
          <a:xfrm>
            <a:off x="4114800" y="1920240"/>
            <a:ext cx="1645920" cy="256032"/>
          </a:xfrm>
          <a:prstGeom prst="rect">
            <a:avLst/>
          </a:prstGeom>
          <a:noFill/>
        </p:spPr>
        <p:txBody>
          <a:bodyPr wrap="square" lIns="36576" tIns="36576" rIns="36576" bIns="36576" anchor="t">
            <a:spAutoFit/>
          </a:bodyPr>
          <a:lstStyle/>
          <a:p>
            <a:pPr algn="l"/>
            <a:r>
              <a:rPr sz="1300" b="1">
                <a:solidFill>
                  <a:srgbClr val="161E2D"/>
                </a:solidFill>
                <a:latin typeface="Aptos"/>
              </a:rPr>
              <a:t>Evidence workspace</a:t>
            </a:r>
          </a:p>
        </p:txBody>
      </p:sp>
      <p:sp>
        <p:nvSpPr>
          <p:cNvPr id="15" name="TextBox 14"/>
          <p:cNvSpPr txBox="1"/>
          <p:nvPr/>
        </p:nvSpPr>
        <p:spPr>
          <a:xfrm>
            <a:off x="3694176" y="2359152"/>
            <a:ext cx="2066544" cy="667512"/>
          </a:xfrm>
          <a:prstGeom prst="rect">
            <a:avLst/>
          </a:prstGeom>
          <a:noFill/>
        </p:spPr>
        <p:txBody>
          <a:bodyPr wrap="square" lIns="36576" tIns="36576" rIns="36576" bIns="36576" anchor="t">
            <a:spAutoFit/>
          </a:bodyPr>
          <a:lstStyle/>
          <a:p>
            <a:pPr algn="l"/>
            <a:r>
              <a:rPr sz="1050" b="0">
                <a:solidFill>
                  <a:srgbClr val="58657A"/>
                </a:solidFill>
                <a:latin typeface="Aptos"/>
              </a:rPr>
              <a:t>Normalized evidence cards with source metadata.</a:t>
            </a:r>
          </a:p>
        </p:txBody>
      </p:sp>
      <p:sp>
        <p:nvSpPr>
          <p:cNvPr id="16" name="Rounded Rectangle 15"/>
          <p:cNvSpPr/>
          <p:nvPr/>
        </p:nvSpPr>
        <p:spPr>
          <a:xfrm>
            <a:off x="6327648" y="1719072"/>
            <a:ext cx="2468880" cy="14173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528816" y="1947672"/>
            <a:ext cx="310896" cy="310896"/>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28816" y="1965960"/>
            <a:ext cx="310896" cy="292608"/>
          </a:xfrm>
          <a:prstGeom prst="rect">
            <a:avLst/>
          </a:prstGeom>
          <a:noFill/>
        </p:spPr>
        <p:txBody>
          <a:bodyPr wrap="square" lIns="36576" tIns="36576" rIns="36576" bIns="36576" anchor="ctr">
            <a:spAutoFit/>
          </a:bodyPr>
          <a:lstStyle/>
          <a:p>
            <a:pPr algn="ctr"/>
            <a:r>
              <a:rPr sz="1400" b="1">
                <a:solidFill>
                  <a:srgbClr val="FFFFFF"/>
                </a:solidFill>
                <a:latin typeface="Aptos"/>
              </a:rPr>
              <a:t>%</a:t>
            </a:r>
          </a:p>
        </p:txBody>
      </p:sp>
      <p:sp>
        <p:nvSpPr>
          <p:cNvPr id="19" name="TextBox 18"/>
          <p:cNvSpPr txBox="1"/>
          <p:nvPr/>
        </p:nvSpPr>
        <p:spPr>
          <a:xfrm>
            <a:off x="6949440" y="1920240"/>
            <a:ext cx="1645920" cy="256032"/>
          </a:xfrm>
          <a:prstGeom prst="rect">
            <a:avLst/>
          </a:prstGeom>
          <a:noFill/>
        </p:spPr>
        <p:txBody>
          <a:bodyPr wrap="square" lIns="36576" tIns="36576" rIns="36576" bIns="36576" anchor="t">
            <a:spAutoFit/>
          </a:bodyPr>
          <a:lstStyle/>
          <a:p>
            <a:pPr algn="l"/>
            <a:r>
              <a:rPr sz="1300" b="1">
                <a:solidFill>
                  <a:srgbClr val="161E2D"/>
                </a:solidFill>
                <a:latin typeface="Aptos"/>
              </a:rPr>
              <a:t>Confidence + model signal</a:t>
            </a:r>
          </a:p>
        </p:txBody>
      </p:sp>
      <p:sp>
        <p:nvSpPr>
          <p:cNvPr id="20" name="TextBox 19"/>
          <p:cNvSpPr txBox="1"/>
          <p:nvPr/>
        </p:nvSpPr>
        <p:spPr>
          <a:xfrm>
            <a:off x="6528816" y="2359152"/>
            <a:ext cx="2066544" cy="667512"/>
          </a:xfrm>
          <a:prstGeom prst="rect">
            <a:avLst/>
          </a:prstGeom>
          <a:noFill/>
        </p:spPr>
        <p:txBody>
          <a:bodyPr wrap="square" lIns="36576" tIns="36576" rIns="36576" bIns="36576" anchor="t">
            <a:spAutoFit/>
          </a:bodyPr>
          <a:lstStyle/>
          <a:p>
            <a:pPr algn="l"/>
            <a:r>
              <a:rPr sz="1050" b="0">
                <a:solidFill>
                  <a:srgbClr val="58657A"/>
                </a:solidFill>
                <a:latin typeface="Aptos"/>
              </a:rPr>
              <a:t>Verdict confidence, class probabilities, device.</a:t>
            </a:r>
          </a:p>
        </p:txBody>
      </p:sp>
      <p:sp>
        <p:nvSpPr>
          <p:cNvPr id="21" name="Rounded Rectangle 20"/>
          <p:cNvSpPr/>
          <p:nvPr/>
        </p:nvSpPr>
        <p:spPr>
          <a:xfrm>
            <a:off x="9162288" y="1719072"/>
            <a:ext cx="2468880" cy="14173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363456" y="1947672"/>
            <a:ext cx="310896" cy="310896"/>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63456" y="1965960"/>
            <a:ext cx="310896" cy="292608"/>
          </a:xfrm>
          <a:prstGeom prst="rect">
            <a:avLst/>
          </a:prstGeom>
          <a:noFill/>
        </p:spPr>
        <p:txBody>
          <a:bodyPr wrap="square" lIns="36576" tIns="36576" rIns="36576" bIns="36576" anchor="ctr">
            <a:spAutoFit/>
          </a:bodyPr>
          <a:lstStyle/>
          <a:p>
            <a:pPr algn="ctr"/>
            <a:r>
              <a:rPr sz="1400" b="1">
                <a:solidFill>
                  <a:srgbClr val="FFFFFF"/>
                </a:solidFill>
                <a:latin typeface="Aptos"/>
              </a:rPr>
              <a:t>≠</a:t>
            </a:r>
          </a:p>
        </p:txBody>
      </p:sp>
      <p:sp>
        <p:nvSpPr>
          <p:cNvPr id="24" name="TextBox 23"/>
          <p:cNvSpPr txBox="1"/>
          <p:nvPr/>
        </p:nvSpPr>
        <p:spPr>
          <a:xfrm>
            <a:off x="9784080" y="1920240"/>
            <a:ext cx="1645920" cy="256032"/>
          </a:xfrm>
          <a:prstGeom prst="rect">
            <a:avLst/>
          </a:prstGeom>
          <a:noFill/>
        </p:spPr>
        <p:txBody>
          <a:bodyPr wrap="square" lIns="36576" tIns="36576" rIns="36576" bIns="36576" anchor="t">
            <a:spAutoFit/>
          </a:bodyPr>
          <a:lstStyle/>
          <a:p>
            <a:pPr algn="l"/>
            <a:r>
              <a:rPr sz="1300" b="1">
                <a:solidFill>
                  <a:srgbClr val="161E2D"/>
                </a:solidFill>
                <a:latin typeface="Aptos"/>
              </a:rPr>
              <a:t>Explainable reasoning</a:t>
            </a:r>
          </a:p>
        </p:txBody>
      </p:sp>
      <p:sp>
        <p:nvSpPr>
          <p:cNvPr id="25" name="TextBox 24"/>
          <p:cNvSpPr txBox="1"/>
          <p:nvPr/>
        </p:nvSpPr>
        <p:spPr>
          <a:xfrm>
            <a:off x="9363456" y="2359152"/>
            <a:ext cx="2066544" cy="667512"/>
          </a:xfrm>
          <a:prstGeom prst="rect">
            <a:avLst/>
          </a:prstGeom>
          <a:noFill/>
        </p:spPr>
        <p:txBody>
          <a:bodyPr wrap="square" lIns="36576" tIns="36576" rIns="36576" bIns="36576" anchor="t">
            <a:spAutoFit/>
          </a:bodyPr>
          <a:lstStyle/>
          <a:p>
            <a:pPr algn="l"/>
            <a:r>
              <a:rPr sz="1050" b="0">
                <a:solidFill>
                  <a:srgbClr val="58657A"/>
                </a:solidFill>
                <a:latin typeface="Aptos"/>
              </a:rPr>
              <a:t>Judge note, reasoning points, prosecutor, defender.</a:t>
            </a:r>
          </a:p>
        </p:txBody>
      </p:sp>
      <p:sp>
        <p:nvSpPr>
          <p:cNvPr id="26" name="Rounded Rectangle 25"/>
          <p:cNvSpPr/>
          <p:nvPr/>
        </p:nvSpPr>
        <p:spPr>
          <a:xfrm>
            <a:off x="658368" y="3593591"/>
            <a:ext cx="2468880" cy="14173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9536" y="3822191"/>
            <a:ext cx="310896" cy="310896"/>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9536" y="3840479"/>
            <a:ext cx="310896" cy="292608"/>
          </a:xfrm>
          <a:prstGeom prst="rect">
            <a:avLst/>
          </a:prstGeom>
          <a:noFill/>
        </p:spPr>
        <p:txBody>
          <a:bodyPr wrap="square" lIns="36576" tIns="36576" rIns="36576" bIns="36576" anchor="ctr">
            <a:spAutoFit/>
          </a:bodyPr>
          <a:lstStyle/>
          <a:p>
            <a:pPr algn="ctr"/>
            <a:r>
              <a:rPr sz="1400" b="1">
                <a:solidFill>
                  <a:srgbClr val="FFFFFF"/>
                </a:solidFill>
                <a:latin typeface="Aptos"/>
              </a:rPr>
              <a:t>↺</a:t>
            </a:r>
          </a:p>
        </p:txBody>
      </p:sp>
      <p:sp>
        <p:nvSpPr>
          <p:cNvPr id="29" name="TextBox 28"/>
          <p:cNvSpPr txBox="1"/>
          <p:nvPr/>
        </p:nvSpPr>
        <p:spPr>
          <a:xfrm>
            <a:off x="1280160" y="3794759"/>
            <a:ext cx="1645920" cy="256032"/>
          </a:xfrm>
          <a:prstGeom prst="rect">
            <a:avLst/>
          </a:prstGeom>
          <a:noFill/>
        </p:spPr>
        <p:txBody>
          <a:bodyPr wrap="square" lIns="36576" tIns="36576" rIns="36576" bIns="36576" anchor="t">
            <a:spAutoFit/>
          </a:bodyPr>
          <a:lstStyle/>
          <a:p>
            <a:pPr algn="l"/>
            <a:r>
              <a:rPr sz="1300" b="1">
                <a:solidFill>
                  <a:srgbClr val="161E2D"/>
                </a:solidFill>
                <a:latin typeface="Aptos"/>
              </a:rPr>
              <a:t>History + sharing</a:t>
            </a:r>
          </a:p>
        </p:txBody>
      </p:sp>
      <p:sp>
        <p:nvSpPr>
          <p:cNvPr id="30" name="TextBox 29"/>
          <p:cNvSpPr txBox="1"/>
          <p:nvPr/>
        </p:nvSpPr>
        <p:spPr>
          <a:xfrm>
            <a:off x="859536" y="4233672"/>
            <a:ext cx="2066544" cy="667512"/>
          </a:xfrm>
          <a:prstGeom prst="rect">
            <a:avLst/>
          </a:prstGeom>
          <a:noFill/>
        </p:spPr>
        <p:txBody>
          <a:bodyPr wrap="square" lIns="36576" tIns="36576" rIns="36576" bIns="36576" anchor="t">
            <a:spAutoFit/>
          </a:bodyPr>
          <a:lstStyle/>
          <a:p>
            <a:pPr algn="l"/>
            <a:r>
              <a:rPr sz="1050" b="0">
                <a:solidFill>
                  <a:srgbClr val="58657A"/>
                </a:solidFill>
                <a:latin typeface="Aptos"/>
              </a:rPr>
              <a:t>SQLite history, short IDs, detail and share routes.</a:t>
            </a:r>
          </a:p>
        </p:txBody>
      </p:sp>
      <p:sp>
        <p:nvSpPr>
          <p:cNvPr id="31" name="Rounded Rectangle 30"/>
          <p:cNvSpPr/>
          <p:nvPr/>
        </p:nvSpPr>
        <p:spPr>
          <a:xfrm>
            <a:off x="3493008" y="3593591"/>
            <a:ext cx="2468880" cy="14173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694176" y="3822191"/>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94176" y="3840479"/>
            <a:ext cx="310896" cy="292608"/>
          </a:xfrm>
          <a:prstGeom prst="rect">
            <a:avLst/>
          </a:prstGeom>
          <a:noFill/>
        </p:spPr>
        <p:txBody>
          <a:bodyPr wrap="square" lIns="36576" tIns="36576" rIns="36576" bIns="36576" anchor="ctr">
            <a:spAutoFit/>
          </a:bodyPr>
          <a:lstStyle/>
          <a:p>
            <a:pPr algn="ctr"/>
            <a:r>
              <a:rPr sz="1400" b="1">
                <a:solidFill>
                  <a:srgbClr val="FFFFFF"/>
                </a:solidFill>
                <a:latin typeface="Aptos"/>
              </a:rPr>
              <a:t>▣</a:t>
            </a:r>
          </a:p>
        </p:txBody>
      </p:sp>
      <p:sp>
        <p:nvSpPr>
          <p:cNvPr id="34" name="TextBox 33"/>
          <p:cNvSpPr txBox="1"/>
          <p:nvPr/>
        </p:nvSpPr>
        <p:spPr>
          <a:xfrm>
            <a:off x="4114800" y="3794759"/>
            <a:ext cx="1645920" cy="256032"/>
          </a:xfrm>
          <a:prstGeom prst="rect">
            <a:avLst/>
          </a:prstGeom>
          <a:noFill/>
        </p:spPr>
        <p:txBody>
          <a:bodyPr wrap="square" lIns="36576" tIns="36576" rIns="36576" bIns="36576" anchor="t">
            <a:spAutoFit/>
          </a:bodyPr>
          <a:lstStyle/>
          <a:p>
            <a:pPr algn="l"/>
            <a:r>
              <a:rPr sz="1300" b="1">
                <a:solidFill>
                  <a:srgbClr val="161E2D"/>
                </a:solidFill>
                <a:latin typeface="Aptos"/>
              </a:rPr>
              <a:t>PDF reports</a:t>
            </a:r>
          </a:p>
        </p:txBody>
      </p:sp>
      <p:sp>
        <p:nvSpPr>
          <p:cNvPr id="35" name="TextBox 34"/>
          <p:cNvSpPr txBox="1"/>
          <p:nvPr/>
        </p:nvSpPr>
        <p:spPr>
          <a:xfrm>
            <a:off x="3694176" y="4233672"/>
            <a:ext cx="2066544" cy="667512"/>
          </a:xfrm>
          <a:prstGeom prst="rect">
            <a:avLst/>
          </a:prstGeom>
          <a:noFill/>
        </p:spPr>
        <p:txBody>
          <a:bodyPr wrap="square" lIns="36576" tIns="36576" rIns="36576" bIns="36576" anchor="t">
            <a:spAutoFit/>
          </a:bodyPr>
          <a:lstStyle/>
          <a:p>
            <a:pPr algn="l"/>
            <a:r>
              <a:rPr sz="1050" b="0">
                <a:solidFill>
                  <a:srgbClr val="58657A"/>
                </a:solidFill>
                <a:latin typeface="Aptos"/>
              </a:rPr>
              <a:t>ReportLab export endpoints for stored verdicts.</a:t>
            </a:r>
          </a:p>
        </p:txBody>
      </p:sp>
      <p:sp>
        <p:nvSpPr>
          <p:cNvPr id="36" name="Rounded Rectangle 35"/>
          <p:cNvSpPr/>
          <p:nvPr/>
        </p:nvSpPr>
        <p:spPr>
          <a:xfrm>
            <a:off x="6327648" y="3593591"/>
            <a:ext cx="2468880" cy="14173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528816" y="3822191"/>
            <a:ext cx="310896" cy="310896"/>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28816" y="3840479"/>
            <a:ext cx="310896" cy="292608"/>
          </a:xfrm>
          <a:prstGeom prst="rect">
            <a:avLst/>
          </a:prstGeom>
          <a:noFill/>
        </p:spPr>
        <p:txBody>
          <a:bodyPr wrap="square" lIns="36576" tIns="36576" rIns="36576" bIns="36576" anchor="ctr">
            <a:spAutoFit/>
          </a:bodyPr>
          <a:lstStyle/>
          <a:p>
            <a:pPr algn="ctr"/>
            <a:r>
              <a:rPr sz="1400" b="1">
                <a:solidFill>
                  <a:srgbClr val="FFFFFF"/>
                </a:solidFill>
                <a:latin typeface="Aptos"/>
              </a:rPr>
              <a:t>@</a:t>
            </a:r>
          </a:p>
        </p:txBody>
      </p:sp>
      <p:sp>
        <p:nvSpPr>
          <p:cNvPr id="39" name="TextBox 38"/>
          <p:cNvSpPr txBox="1"/>
          <p:nvPr/>
        </p:nvSpPr>
        <p:spPr>
          <a:xfrm>
            <a:off x="6949440" y="3794759"/>
            <a:ext cx="1645920" cy="256032"/>
          </a:xfrm>
          <a:prstGeom prst="rect">
            <a:avLst/>
          </a:prstGeom>
          <a:noFill/>
        </p:spPr>
        <p:txBody>
          <a:bodyPr wrap="square" lIns="36576" tIns="36576" rIns="36576" bIns="36576" anchor="t">
            <a:spAutoFit/>
          </a:bodyPr>
          <a:lstStyle/>
          <a:p>
            <a:pPr algn="l"/>
            <a:r>
              <a:rPr sz="1300" b="1">
                <a:solidFill>
                  <a:srgbClr val="161E2D"/>
                </a:solidFill>
                <a:latin typeface="Aptos"/>
              </a:rPr>
              <a:t>Auth + profile</a:t>
            </a:r>
          </a:p>
        </p:txBody>
      </p:sp>
      <p:sp>
        <p:nvSpPr>
          <p:cNvPr id="40" name="TextBox 39"/>
          <p:cNvSpPr txBox="1"/>
          <p:nvPr/>
        </p:nvSpPr>
        <p:spPr>
          <a:xfrm>
            <a:off x="6528816" y="4233672"/>
            <a:ext cx="2066544" cy="667512"/>
          </a:xfrm>
          <a:prstGeom prst="rect">
            <a:avLst/>
          </a:prstGeom>
          <a:noFill/>
        </p:spPr>
        <p:txBody>
          <a:bodyPr wrap="square" lIns="36576" tIns="36576" rIns="36576" bIns="36576" anchor="t">
            <a:spAutoFit/>
          </a:bodyPr>
          <a:lstStyle/>
          <a:p>
            <a:pPr algn="l"/>
            <a:r>
              <a:rPr sz="1050" b="0">
                <a:solidFill>
                  <a:srgbClr val="58657A"/>
                </a:solidFill>
                <a:latin typeface="Aptos"/>
              </a:rPr>
              <a:t>JWT login, register, current-user endpoint.</a:t>
            </a:r>
          </a:p>
        </p:txBody>
      </p:sp>
      <p:sp>
        <p:nvSpPr>
          <p:cNvPr id="41" name="Rounded Rectangle 40"/>
          <p:cNvSpPr/>
          <p:nvPr/>
        </p:nvSpPr>
        <p:spPr>
          <a:xfrm>
            <a:off x="9162288" y="3593591"/>
            <a:ext cx="2468880" cy="141732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363456" y="3822191"/>
            <a:ext cx="310896" cy="310896"/>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363456" y="3840479"/>
            <a:ext cx="310896" cy="292608"/>
          </a:xfrm>
          <a:prstGeom prst="rect">
            <a:avLst/>
          </a:prstGeom>
          <a:noFill/>
        </p:spPr>
        <p:txBody>
          <a:bodyPr wrap="square" lIns="36576" tIns="36576" rIns="36576" bIns="36576" anchor="ctr">
            <a:spAutoFit/>
          </a:bodyPr>
          <a:lstStyle/>
          <a:p>
            <a:pPr algn="ctr"/>
            <a:r>
              <a:rPr sz="1400" b="1">
                <a:solidFill>
                  <a:srgbClr val="FFFFFF"/>
                </a:solidFill>
                <a:latin typeface="Aptos"/>
              </a:rPr>
              <a:t>∑</a:t>
            </a:r>
          </a:p>
        </p:txBody>
      </p:sp>
      <p:sp>
        <p:nvSpPr>
          <p:cNvPr id="44" name="TextBox 43"/>
          <p:cNvSpPr txBox="1"/>
          <p:nvPr/>
        </p:nvSpPr>
        <p:spPr>
          <a:xfrm>
            <a:off x="9784080" y="3794759"/>
            <a:ext cx="1645920" cy="256032"/>
          </a:xfrm>
          <a:prstGeom prst="rect">
            <a:avLst/>
          </a:prstGeom>
          <a:noFill/>
        </p:spPr>
        <p:txBody>
          <a:bodyPr wrap="square" lIns="36576" tIns="36576" rIns="36576" bIns="36576" anchor="t">
            <a:spAutoFit/>
          </a:bodyPr>
          <a:lstStyle/>
          <a:p>
            <a:pPr algn="l"/>
            <a:r>
              <a:rPr sz="1300" b="1">
                <a:solidFill>
                  <a:srgbClr val="161E2D"/>
                </a:solidFill>
                <a:latin typeface="Aptos"/>
              </a:rPr>
              <a:t>Stats view</a:t>
            </a:r>
          </a:p>
        </p:txBody>
      </p:sp>
      <p:sp>
        <p:nvSpPr>
          <p:cNvPr id="45" name="TextBox 44"/>
          <p:cNvSpPr txBox="1"/>
          <p:nvPr/>
        </p:nvSpPr>
        <p:spPr>
          <a:xfrm>
            <a:off x="9363456" y="4233672"/>
            <a:ext cx="2066544" cy="667512"/>
          </a:xfrm>
          <a:prstGeom prst="rect">
            <a:avLst/>
          </a:prstGeom>
          <a:noFill/>
        </p:spPr>
        <p:txBody>
          <a:bodyPr wrap="square" lIns="36576" tIns="36576" rIns="36576" bIns="36576" anchor="t">
            <a:spAutoFit/>
          </a:bodyPr>
          <a:lstStyle/>
          <a:p>
            <a:pPr algn="l"/>
            <a:r>
              <a:rPr sz="1050" b="0">
                <a:solidFill>
                  <a:srgbClr val="58657A"/>
                </a:solidFill>
                <a:latin typeface="Aptos"/>
              </a:rPr>
              <a:t>Chart.js views backed by stats and history endpoints.</a:t>
            </a:r>
          </a:p>
        </p:txBody>
      </p:sp>
      <p:sp>
        <p:nvSpPr>
          <p:cNvPr id="46" name="TextBox 45"/>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58657A"/>
                </a:solidFill>
                <a:latin typeface="Aptos"/>
              </a:rPr>
              <a:t>GENESIS  /  AI-POWERED CLAIM VERIFICATION</a:t>
            </a:r>
          </a:p>
        </p:txBody>
      </p:sp>
      <p:sp>
        <p:nvSpPr>
          <p:cNvPr id="47" name="TextBox 46"/>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58657A"/>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926080" cy="228600"/>
          </a:xfrm>
          <a:prstGeom prst="rect">
            <a:avLst/>
          </a:prstGeom>
          <a:noFill/>
        </p:spPr>
        <p:txBody>
          <a:bodyPr wrap="square" lIns="36576" tIns="36576" rIns="36576" bIns="36576" anchor="t">
            <a:spAutoFit/>
          </a:bodyPr>
          <a:lstStyle/>
          <a:p>
            <a:pPr algn="l"/>
            <a:r>
              <a:rPr sz="1000" b="1">
                <a:solidFill>
                  <a:srgbClr val="D4A017"/>
                </a:solidFill>
                <a:latin typeface="Aptos"/>
              </a:rPr>
              <a:t>06 / INTELLIGENCE</a:t>
            </a:r>
          </a:p>
        </p:txBody>
      </p:sp>
      <p:sp>
        <p:nvSpPr>
          <p:cNvPr id="4" name="TextBox 3"/>
          <p:cNvSpPr txBox="1"/>
          <p:nvPr/>
        </p:nvSpPr>
        <p:spPr>
          <a:xfrm>
            <a:off x="594360" y="612648"/>
            <a:ext cx="10972800" cy="566928"/>
          </a:xfrm>
          <a:prstGeom prst="rect">
            <a:avLst/>
          </a:prstGeom>
          <a:noFill/>
        </p:spPr>
        <p:txBody>
          <a:bodyPr wrap="square" lIns="36576" tIns="36576" rIns="36576" bIns="36576" anchor="t">
            <a:spAutoFit/>
          </a:bodyPr>
          <a:lstStyle/>
          <a:p>
            <a:pPr algn="l"/>
            <a:r>
              <a:rPr sz="2800" b="1">
                <a:solidFill>
                  <a:srgbClr val="161E2D"/>
                </a:solidFill>
                <a:latin typeface="Aptos Display"/>
              </a:rPr>
              <a:t>How the AI techniques work together</a:t>
            </a:r>
          </a:p>
        </p:txBody>
      </p:sp>
      <p:sp>
        <p:nvSpPr>
          <p:cNvPr id="5" name="TextBox 4"/>
          <p:cNvSpPr txBox="1"/>
          <p:nvPr/>
        </p:nvSpPr>
        <p:spPr>
          <a:xfrm>
            <a:off x="612648" y="1216152"/>
            <a:ext cx="10607040" cy="347472"/>
          </a:xfrm>
          <a:prstGeom prst="rect">
            <a:avLst/>
          </a:prstGeom>
          <a:noFill/>
        </p:spPr>
        <p:txBody>
          <a:bodyPr wrap="square" lIns="36576" tIns="36576" rIns="36576" bIns="36576" anchor="t">
            <a:spAutoFit/>
          </a:bodyPr>
          <a:lstStyle/>
          <a:p>
            <a:pPr algn="l"/>
            <a:r>
              <a:rPr sz="1250" b="0">
                <a:solidFill>
                  <a:srgbClr val="58657A"/>
                </a:solidFill>
                <a:latin typeface="Aptos"/>
              </a:rPr>
              <a:t>A hybrid system: local model signal + retrieval + structured reasoning + deterministic safeguards.</a:t>
            </a:r>
          </a:p>
        </p:txBody>
      </p:sp>
      <p:sp>
        <p:nvSpPr>
          <p:cNvPr id="6" name="Rounded Rectangle 5"/>
          <p:cNvSpPr/>
          <p:nvPr/>
        </p:nvSpPr>
        <p:spPr>
          <a:xfrm>
            <a:off x="777240" y="1828800"/>
            <a:ext cx="4983480" cy="1572768"/>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3271" y="2084832"/>
            <a:ext cx="438912" cy="43891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1" y="2103120"/>
            <a:ext cx="438912" cy="420623"/>
          </a:xfrm>
          <a:prstGeom prst="rect">
            <a:avLst/>
          </a:prstGeom>
          <a:noFill/>
        </p:spPr>
        <p:txBody>
          <a:bodyPr wrap="square" lIns="36576" tIns="36576" rIns="36576" bIns="36576" anchor="ctr">
            <a:spAutoFit/>
          </a:bodyPr>
          <a:lstStyle/>
          <a:p>
            <a:pPr algn="ctr"/>
            <a:r>
              <a:rPr sz="1200" b="1">
                <a:solidFill>
                  <a:srgbClr val="FFFFFF"/>
                </a:solidFill>
                <a:latin typeface="Aptos"/>
              </a:rPr>
              <a:t>1</a:t>
            </a:r>
          </a:p>
        </p:txBody>
      </p:sp>
      <p:sp>
        <p:nvSpPr>
          <p:cNvPr id="9" name="TextBox 8"/>
          <p:cNvSpPr txBox="1"/>
          <p:nvPr/>
        </p:nvSpPr>
        <p:spPr>
          <a:xfrm>
            <a:off x="1645919" y="2075688"/>
            <a:ext cx="3794760" cy="274320"/>
          </a:xfrm>
          <a:prstGeom prst="rect">
            <a:avLst/>
          </a:prstGeom>
          <a:noFill/>
        </p:spPr>
        <p:txBody>
          <a:bodyPr wrap="square" lIns="36576" tIns="36576" rIns="36576" bIns="36576" anchor="t">
            <a:spAutoFit/>
          </a:bodyPr>
          <a:lstStyle/>
          <a:p>
            <a:pPr algn="l"/>
            <a:r>
              <a:rPr sz="1500" b="1">
                <a:solidFill>
                  <a:srgbClr val="161E2D"/>
                </a:solidFill>
                <a:latin typeface="Aptos"/>
              </a:rPr>
              <a:t>DistilBERT</a:t>
            </a:r>
          </a:p>
        </p:txBody>
      </p:sp>
      <p:sp>
        <p:nvSpPr>
          <p:cNvPr id="10" name="TextBox 9"/>
          <p:cNvSpPr txBox="1"/>
          <p:nvPr/>
        </p:nvSpPr>
        <p:spPr>
          <a:xfrm>
            <a:off x="1033271" y="2578608"/>
            <a:ext cx="4434840" cy="566928"/>
          </a:xfrm>
          <a:prstGeom prst="rect">
            <a:avLst/>
          </a:prstGeom>
          <a:noFill/>
        </p:spPr>
        <p:txBody>
          <a:bodyPr wrap="square" lIns="36576" tIns="36576" rIns="36576" bIns="36576" anchor="t">
            <a:spAutoFit/>
          </a:bodyPr>
          <a:lstStyle/>
          <a:p>
            <a:pPr algn="l"/>
            <a:r>
              <a:rPr sz="1100" b="0">
                <a:solidFill>
                  <a:srgbClr val="58657A"/>
                </a:solidFill>
                <a:latin typeface="Aptos"/>
              </a:rPr>
              <a:t>WELFake training code and saved model artifact.
Returns label, confidence, probabilities, device.</a:t>
            </a:r>
          </a:p>
        </p:txBody>
      </p:sp>
      <p:sp>
        <p:nvSpPr>
          <p:cNvPr id="11" name="Rounded Rectangle 10"/>
          <p:cNvSpPr/>
          <p:nvPr/>
        </p:nvSpPr>
        <p:spPr>
          <a:xfrm>
            <a:off x="6263640" y="1828800"/>
            <a:ext cx="4983480" cy="1572768"/>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519672" y="2084832"/>
            <a:ext cx="438912" cy="438912"/>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9672" y="2103120"/>
            <a:ext cx="438912" cy="420623"/>
          </a:xfrm>
          <a:prstGeom prst="rect">
            <a:avLst/>
          </a:prstGeom>
          <a:noFill/>
        </p:spPr>
        <p:txBody>
          <a:bodyPr wrap="square" lIns="36576" tIns="36576" rIns="36576" bIns="36576" anchor="ctr">
            <a:spAutoFit/>
          </a:bodyPr>
          <a:lstStyle/>
          <a:p>
            <a:pPr algn="ctr"/>
            <a:r>
              <a:rPr sz="1200" b="1">
                <a:solidFill>
                  <a:srgbClr val="FFFFFF"/>
                </a:solidFill>
                <a:latin typeface="Aptos"/>
              </a:rPr>
              <a:t>2</a:t>
            </a:r>
          </a:p>
        </p:txBody>
      </p:sp>
      <p:sp>
        <p:nvSpPr>
          <p:cNvPr id="14" name="TextBox 13"/>
          <p:cNvSpPr txBox="1"/>
          <p:nvPr/>
        </p:nvSpPr>
        <p:spPr>
          <a:xfrm>
            <a:off x="7132320" y="2075688"/>
            <a:ext cx="3794760" cy="274320"/>
          </a:xfrm>
          <a:prstGeom prst="rect">
            <a:avLst/>
          </a:prstGeom>
          <a:noFill/>
        </p:spPr>
        <p:txBody>
          <a:bodyPr wrap="square" lIns="36576" tIns="36576" rIns="36576" bIns="36576" anchor="t">
            <a:spAutoFit/>
          </a:bodyPr>
          <a:lstStyle/>
          <a:p>
            <a:pPr algn="l"/>
            <a:r>
              <a:rPr sz="1500" b="1">
                <a:solidFill>
                  <a:srgbClr val="161E2D"/>
                </a:solidFill>
                <a:latin typeface="Aptos"/>
              </a:rPr>
              <a:t>RAG</a:t>
            </a:r>
          </a:p>
        </p:txBody>
      </p:sp>
      <p:sp>
        <p:nvSpPr>
          <p:cNvPr id="15" name="TextBox 14"/>
          <p:cNvSpPr txBox="1"/>
          <p:nvPr/>
        </p:nvSpPr>
        <p:spPr>
          <a:xfrm>
            <a:off x="6519672" y="2578608"/>
            <a:ext cx="4434840" cy="566928"/>
          </a:xfrm>
          <a:prstGeom prst="rect">
            <a:avLst/>
          </a:prstGeom>
          <a:noFill/>
        </p:spPr>
        <p:txBody>
          <a:bodyPr wrap="square" lIns="36576" tIns="36576" rIns="36576" bIns="36576" anchor="t">
            <a:spAutoFit/>
          </a:bodyPr>
          <a:lstStyle/>
          <a:p>
            <a:pPr algn="l"/>
            <a:r>
              <a:rPr sz="1100" b="0">
                <a:solidFill>
                  <a:srgbClr val="58657A"/>
                </a:solidFill>
                <a:latin typeface="Aptos"/>
              </a:rPr>
              <a:t>Search providers return candidate evidence.
Ranking and filtering prepare context.</a:t>
            </a:r>
          </a:p>
        </p:txBody>
      </p:sp>
      <p:sp>
        <p:nvSpPr>
          <p:cNvPr id="16" name="Rounded Rectangle 15"/>
          <p:cNvSpPr/>
          <p:nvPr/>
        </p:nvSpPr>
        <p:spPr>
          <a:xfrm>
            <a:off x="777240" y="3886200"/>
            <a:ext cx="4983480" cy="1572768"/>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33271" y="4142232"/>
            <a:ext cx="438912" cy="438912"/>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33271" y="4160520"/>
            <a:ext cx="438912" cy="420623"/>
          </a:xfrm>
          <a:prstGeom prst="rect">
            <a:avLst/>
          </a:prstGeom>
          <a:noFill/>
        </p:spPr>
        <p:txBody>
          <a:bodyPr wrap="square" lIns="36576" tIns="36576" rIns="36576" bIns="36576" anchor="ctr">
            <a:spAutoFit/>
          </a:bodyPr>
          <a:lstStyle/>
          <a:p>
            <a:pPr algn="ctr"/>
            <a:r>
              <a:rPr sz="1200" b="1">
                <a:solidFill>
                  <a:srgbClr val="FFFFFF"/>
                </a:solidFill>
                <a:latin typeface="Aptos"/>
              </a:rPr>
              <a:t>3</a:t>
            </a:r>
          </a:p>
        </p:txBody>
      </p:sp>
      <p:sp>
        <p:nvSpPr>
          <p:cNvPr id="19" name="TextBox 18"/>
          <p:cNvSpPr txBox="1"/>
          <p:nvPr/>
        </p:nvSpPr>
        <p:spPr>
          <a:xfrm>
            <a:off x="1645919" y="4133087"/>
            <a:ext cx="3794760" cy="274320"/>
          </a:xfrm>
          <a:prstGeom prst="rect">
            <a:avLst/>
          </a:prstGeom>
          <a:noFill/>
        </p:spPr>
        <p:txBody>
          <a:bodyPr wrap="square" lIns="36576" tIns="36576" rIns="36576" bIns="36576" anchor="t">
            <a:spAutoFit/>
          </a:bodyPr>
          <a:lstStyle/>
          <a:p>
            <a:pPr algn="l"/>
            <a:r>
              <a:rPr sz="1500" b="1">
                <a:solidFill>
                  <a:srgbClr val="161E2D"/>
                </a:solidFill>
                <a:latin typeface="Aptos"/>
              </a:rPr>
              <a:t>LLM integration</a:t>
            </a:r>
          </a:p>
        </p:txBody>
      </p:sp>
      <p:sp>
        <p:nvSpPr>
          <p:cNvPr id="20" name="TextBox 19"/>
          <p:cNvSpPr txBox="1"/>
          <p:nvPr/>
        </p:nvSpPr>
        <p:spPr>
          <a:xfrm>
            <a:off x="1033271" y="4636008"/>
            <a:ext cx="4434840" cy="566928"/>
          </a:xfrm>
          <a:prstGeom prst="rect">
            <a:avLst/>
          </a:prstGeom>
          <a:noFill/>
        </p:spPr>
        <p:txBody>
          <a:bodyPr wrap="square" lIns="36576" tIns="36576" rIns="36576" bIns="36576" anchor="t">
            <a:spAutoFit/>
          </a:bodyPr>
          <a:lstStyle/>
          <a:p>
            <a:pPr algn="l"/>
            <a:r>
              <a:rPr sz="1100" b="0">
                <a:solidFill>
                  <a:srgbClr val="58657A"/>
                </a:solidFill>
                <a:latin typeface="Aptos"/>
              </a:rPr>
              <a:t>Groq → Gemini → Ollama path when configured.
Feature flags keep deterministic defaults.</a:t>
            </a:r>
          </a:p>
        </p:txBody>
      </p:sp>
      <p:sp>
        <p:nvSpPr>
          <p:cNvPr id="21" name="Rounded Rectangle 20"/>
          <p:cNvSpPr/>
          <p:nvPr/>
        </p:nvSpPr>
        <p:spPr>
          <a:xfrm>
            <a:off x="6263640" y="3886200"/>
            <a:ext cx="4983480" cy="1572768"/>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519672" y="4142232"/>
            <a:ext cx="438912" cy="438912"/>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19672" y="4160520"/>
            <a:ext cx="438912" cy="420623"/>
          </a:xfrm>
          <a:prstGeom prst="rect">
            <a:avLst/>
          </a:prstGeom>
          <a:noFill/>
        </p:spPr>
        <p:txBody>
          <a:bodyPr wrap="square" lIns="36576" tIns="36576" rIns="36576" bIns="36576" anchor="ctr">
            <a:spAutoFit/>
          </a:bodyPr>
          <a:lstStyle/>
          <a:p>
            <a:pPr algn="ctr"/>
            <a:r>
              <a:rPr sz="1200" b="1">
                <a:solidFill>
                  <a:srgbClr val="FFFFFF"/>
                </a:solidFill>
                <a:latin typeface="Aptos"/>
              </a:rPr>
              <a:t>4</a:t>
            </a:r>
          </a:p>
        </p:txBody>
      </p:sp>
      <p:sp>
        <p:nvSpPr>
          <p:cNvPr id="24" name="TextBox 23"/>
          <p:cNvSpPr txBox="1"/>
          <p:nvPr/>
        </p:nvSpPr>
        <p:spPr>
          <a:xfrm>
            <a:off x="7132320" y="4133087"/>
            <a:ext cx="3794760" cy="274320"/>
          </a:xfrm>
          <a:prstGeom prst="rect">
            <a:avLst/>
          </a:prstGeom>
          <a:noFill/>
        </p:spPr>
        <p:txBody>
          <a:bodyPr wrap="square" lIns="36576" tIns="36576" rIns="36576" bIns="36576" anchor="t">
            <a:spAutoFit/>
          </a:bodyPr>
          <a:lstStyle/>
          <a:p>
            <a:pPr algn="l"/>
            <a:r>
              <a:rPr sz="1500" b="1">
                <a:solidFill>
                  <a:srgbClr val="161E2D"/>
                </a:solidFill>
                <a:latin typeface="Aptos"/>
              </a:rPr>
              <a:t>Rules + agents</a:t>
            </a:r>
          </a:p>
        </p:txBody>
      </p:sp>
      <p:sp>
        <p:nvSpPr>
          <p:cNvPr id="25" name="TextBox 24"/>
          <p:cNvSpPr txBox="1"/>
          <p:nvPr/>
        </p:nvSpPr>
        <p:spPr>
          <a:xfrm>
            <a:off x="6519672" y="4636008"/>
            <a:ext cx="4434840" cy="566928"/>
          </a:xfrm>
          <a:prstGeom prst="rect">
            <a:avLst/>
          </a:prstGeom>
          <a:noFill/>
        </p:spPr>
        <p:txBody>
          <a:bodyPr wrap="square" lIns="36576" tIns="36576" rIns="36576" bIns="36576" anchor="t">
            <a:spAutoFit/>
          </a:bodyPr>
          <a:lstStyle/>
          <a:p>
            <a:pPr algn="l"/>
            <a:r>
              <a:rPr sz="1100" b="0">
                <a:solidFill>
                  <a:srgbClr val="58657A"/>
                </a:solidFill>
                <a:latin typeface="Aptos"/>
              </a:rPr>
              <a:t>Claim analyzer, prosecutor, defender, judge,
known-fact shortcuts, and verdict hardening.</a:t>
            </a:r>
          </a:p>
        </p:txBody>
      </p:sp>
      <p:sp>
        <p:nvSpPr>
          <p:cNvPr id="26" name="TextBox 25"/>
          <p:cNvSpPr txBox="1"/>
          <p:nvPr/>
        </p:nvSpPr>
        <p:spPr>
          <a:xfrm>
            <a:off x="914400" y="5715000"/>
            <a:ext cx="10241280" cy="320040"/>
          </a:xfrm>
          <a:prstGeom prst="rect">
            <a:avLst/>
          </a:prstGeom>
          <a:noFill/>
        </p:spPr>
        <p:txBody>
          <a:bodyPr wrap="square" lIns="36576" tIns="36576" rIns="36576" bIns="36576" anchor="t">
            <a:spAutoFit/>
          </a:bodyPr>
          <a:lstStyle/>
          <a:p>
            <a:pPr algn="ctr"/>
            <a:r>
              <a:rPr sz="1600" b="1">
                <a:solidFill>
                  <a:srgbClr val="4F46E5"/>
                </a:solidFill>
                <a:latin typeface="Aptos"/>
              </a:rPr>
              <a:t>Result: a layered decision process—not an unsupported “AI knows the truth” claim.</a:t>
            </a:r>
          </a:p>
        </p:txBody>
      </p:sp>
      <p:sp>
        <p:nvSpPr>
          <p:cNvPr id="27" name="TextBox 26"/>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58657A"/>
                </a:solidFill>
                <a:latin typeface="Aptos"/>
              </a:rPr>
              <a:t>GENESIS  /  AI-POWERED CLAIM VERIFICATION</a:t>
            </a:r>
          </a:p>
        </p:txBody>
      </p:sp>
      <p:sp>
        <p:nvSpPr>
          <p:cNvPr id="28" name="TextBox 27"/>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58657A"/>
                </a:solidFill>
                <a:latin typeface="Aptos"/>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926080" cy="228600"/>
          </a:xfrm>
          <a:prstGeom prst="rect">
            <a:avLst/>
          </a:prstGeom>
          <a:noFill/>
        </p:spPr>
        <p:txBody>
          <a:bodyPr wrap="square" lIns="36576" tIns="36576" rIns="36576" bIns="36576" anchor="t">
            <a:spAutoFit/>
          </a:bodyPr>
          <a:lstStyle/>
          <a:p>
            <a:pPr algn="l"/>
            <a:r>
              <a:rPr sz="1000" b="1">
                <a:solidFill>
                  <a:srgbClr val="D4A017"/>
                </a:solidFill>
                <a:latin typeface="Aptos"/>
              </a:rPr>
              <a:t>07 / DEMO STORY</a:t>
            </a:r>
          </a:p>
        </p:txBody>
      </p:sp>
      <p:sp>
        <p:nvSpPr>
          <p:cNvPr id="4" name="TextBox 3"/>
          <p:cNvSpPr txBox="1"/>
          <p:nvPr/>
        </p:nvSpPr>
        <p:spPr>
          <a:xfrm>
            <a:off x="594360" y="612648"/>
            <a:ext cx="10972800" cy="566928"/>
          </a:xfrm>
          <a:prstGeom prst="rect">
            <a:avLst/>
          </a:prstGeom>
          <a:noFill/>
        </p:spPr>
        <p:txBody>
          <a:bodyPr wrap="square" lIns="36576" tIns="36576" rIns="36576" bIns="36576" anchor="t">
            <a:spAutoFit/>
          </a:bodyPr>
          <a:lstStyle/>
          <a:p>
            <a:pPr algn="l"/>
            <a:r>
              <a:rPr sz="2800" b="1">
                <a:solidFill>
                  <a:srgbClr val="FFFFFF"/>
                </a:solidFill>
                <a:latin typeface="Aptos Display"/>
              </a:rPr>
              <a:t>What happens after “Verify claim”</a:t>
            </a:r>
          </a:p>
        </p:txBody>
      </p:sp>
      <p:sp>
        <p:nvSpPr>
          <p:cNvPr id="5" name="TextBox 4"/>
          <p:cNvSpPr txBox="1"/>
          <p:nvPr/>
        </p:nvSpPr>
        <p:spPr>
          <a:xfrm>
            <a:off x="612648" y="1216152"/>
            <a:ext cx="10607040" cy="347472"/>
          </a:xfrm>
          <a:prstGeom prst="rect">
            <a:avLst/>
          </a:prstGeom>
          <a:noFill/>
        </p:spPr>
        <p:txBody>
          <a:bodyPr wrap="square" lIns="36576" tIns="36576" rIns="36576" bIns="36576" anchor="t">
            <a:spAutoFit/>
          </a:bodyPr>
          <a:lstStyle/>
          <a:p>
            <a:pPr algn="l"/>
            <a:r>
              <a:rPr sz="1250" b="0">
                <a:solidFill>
                  <a:srgbClr val="C7D2E0"/>
                </a:solidFill>
                <a:latin typeface="Aptos"/>
              </a:rPr>
              <a:t>The visible user action is backed by a traceable request lifecycle.</a:t>
            </a:r>
          </a:p>
        </p:txBody>
      </p:sp>
      <p:sp>
        <p:nvSpPr>
          <p:cNvPr id="6" name="Oval 5"/>
          <p:cNvSpPr/>
          <p:nvPr/>
        </p:nvSpPr>
        <p:spPr>
          <a:xfrm>
            <a:off x="960120" y="1755648"/>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773936"/>
            <a:ext cx="384048" cy="365759"/>
          </a:xfrm>
          <a:prstGeom prst="rect">
            <a:avLst/>
          </a:prstGeom>
          <a:noFill/>
        </p:spPr>
        <p:txBody>
          <a:bodyPr wrap="square" lIns="36576" tIns="36576" rIns="36576" bIns="36576" anchor="ctr">
            <a:spAutoFit/>
          </a:bodyPr>
          <a:lstStyle/>
          <a:p>
            <a:pPr algn="ctr"/>
            <a:r>
              <a:rPr sz="1000" b="1">
                <a:solidFill>
                  <a:srgbClr val="0F172A"/>
                </a:solidFill>
                <a:latin typeface="Aptos"/>
              </a:rPr>
              <a:t>1</a:t>
            </a:r>
          </a:p>
        </p:txBody>
      </p:sp>
      <p:sp>
        <p:nvSpPr>
          <p:cNvPr id="8" name="TextBox 7"/>
          <p:cNvSpPr txBox="1"/>
          <p:nvPr/>
        </p:nvSpPr>
        <p:spPr>
          <a:xfrm>
            <a:off x="1554480" y="1801368"/>
            <a:ext cx="1325880" cy="201168"/>
          </a:xfrm>
          <a:prstGeom prst="rect">
            <a:avLst/>
          </a:prstGeom>
          <a:noFill/>
        </p:spPr>
        <p:txBody>
          <a:bodyPr wrap="square" lIns="36576" tIns="36576" rIns="36576" bIns="36576" anchor="t">
            <a:spAutoFit/>
          </a:bodyPr>
          <a:lstStyle/>
          <a:p>
            <a:pPr algn="l"/>
            <a:r>
              <a:rPr sz="1200" b="1">
                <a:solidFill>
                  <a:srgbClr val="FFFFFF"/>
                </a:solidFill>
                <a:latin typeface="Aptos"/>
              </a:rPr>
              <a:t>Click</a:t>
            </a:r>
          </a:p>
        </p:txBody>
      </p:sp>
      <p:sp>
        <p:nvSpPr>
          <p:cNvPr id="9" name="TextBox 8"/>
          <p:cNvSpPr txBox="1"/>
          <p:nvPr/>
        </p:nvSpPr>
        <p:spPr>
          <a:xfrm>
            <a:off x="3108960" y="1801368"/>
            <a:ext cx="4846320" cy="201168"/>
          </a:xfrm>
          <a:prstGeom prst="rect">
            <a:avLst/>
          </a:prstGeom>
          <a:noFill/>
        </p:spPr>
        <p:txBody>
          <a:bodyPr wrap="square" lIns="36576" tIns="36576" rIns="36576" bIns="36576" anchor="t">
            <a:spAutoFit/>
          </a:bodyPr>
          <a:lstStyle/>
          <a:p>
            <a:pPr algn="l"/>
            <a:r>
              <a:rPr sz="1100" b="0">
                <a:solidFill>
                  <a:srgbClr val="CDD8E8"/>
                </a:solidFill>
                <a:latin typeface="Aptos"/>
              </a:rPr>
              <a:t>Home.jsx</a:t>
            </a:r>
          </a:p>
        </p:txBody>
      </p:sp>
      <p:cxnSp>
        <p:nvCxnSpPr>
          <p:cNvPr id="10" name="Connector 9"/>
          <p:cNvCxnSpPr/>
          <p:nvPr/>
        </p:nvCxnSpPr>
        <p:spPr>
          <a:xfrm>
            <a:off x="1152144" y="2157984"/>
            <a:ext cx="0" cy="201168"/>
          </a:xfrm>
          <a:prstGeom prst="line">
            <a:avLst/>
          </a:prstGeom>
          <a:ln w="15240">
            <a:solidFill>
              <a:srgbClr val="5F78A5"/>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960120" y="2377440"/>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2395728"/>
            <a:ext cx="384048" cy="365759"/>
          </a:xfrm>
          <a:prstGeom prst="rect">
            <a:avLst/>
          </a:prstGeom>
          <a:noFill/>
        </p:spPr>
        <p:txBody>
          <a:bodyPr wrap="square" lIns="36576" tIns="36576" rIns="36576" bIns="36576" anchor="ctr">
            <a:spAutoFit/>
          </a:bodyPr>
          <a:lstStyle/>
          <a:p>
            <a:pPr algn="ctr"/>
            <a:r>
              <a:rPr sz="1000" b="1">
                <a:solidFill>
                  <a:srgbClr val="0F172A"/>
                </a:solidFill>
                <a:latin typeface="Aptos"/>
              </a:rPr>
              <a:t>2</a:t>
            </a:r>
          </a:p>
        </p:txBody>
      </p:sp>
      <p:sp>
        <p:nvSpPr>
          <p:cNvPr id="13" name="TextBox 12"/>
          <p:cNvSpPr txBox="1"/>
          <p:nvPr/>
        </p:nvSpPr>
        <p:spPr>
          <a:xfrm>
            <a:off x="1554480" y="2423160"/>
            <a:ext cx="1325880" cy="201168"/>
          </a:xfrm>
          <a:prstGeom prst="rect">
            <a:avLst/>
          </a:prstGeom>
          <a:noFill/>
        </p:spPr>
        <p:txBody>
          <a:bodyPr wrap="square" lIns="36576" tIns="36576" rIns="36576" bIns="36576" anchor="t">
            <a:spAutoFit/>
          </a:bodyPr>
          <a:lstStyle/>
          <a:p>
            <a:pPr algn="l"/>
            <a:r>
              <a:rPr sz="1200" b="1">
                <a:solidFill>
                  <a:srgbClr val="FFFFFF"/>
                </a:solidFill>
                <a:latin typeface="Aptos"/>
              </a:rPr>
              <a:t>POST</a:t>
            </a:r>
          </a:p>
        </p:txBody>
      </p:sp>
      <p:sp>
        <p:nvSpPr>
          <p:cNvPr id="14" name="TextBox 13"/>
          <p:cNvSpPr txBox="1"/>
          <p:nvPr/>
        </p:nvSpPr>
        <p:spPr>
          <a:xfrm>
            <a:off x="3108960" y="2423160"/>
            <a:ext cx="4846320" cy="201168"/>
          </a:xfrm>
          <a:prstGeom prst="rect">
            <a:avLst/>
          </a:prstGeom>
          <a:noFill/>
        </p:spPr>
        <p:txBody>
          <a:bodyPr wrap="square" lIns="36576" tIns="36576" rIns="36576" bIns="36576" anchor="t">
            <a:spAutoFit/>
          </a:bodyPr>
          <a:lstStyle/>
          <a:p>
            <a:pPr algn="l"/>
            <a:r>
              <a:rPr sz="1100" b="0">
                <a:solidFill>
                  <a:srgbClr val="CDD8E8"/>
                </a:solidFill>
                <a:latin typeface="Aptos"/>
              </a:rPr>
              <a:t>Axios → /api/verify</a:t>
            </a:r>
          </a:p>
        </p:txBody>
      </p:sp>
      <p:cxnSp>
        <p:nvCxnSpPr>
          <p:cNvPr id="15" name="Connector 14"/>
          <p:cNvCxnSpPr/>
          <p:nvPr/>
        </p:nvCxnSpPr>
        <p:spPr>
          <a:xfrm>
            <a:off x="1152144" y="2779776"/>
            <a:ext cx="0" cy="201168"/>
          </a:xfrm>
          <a:prstGeom prst="line">
            <a:avLst/>
          </a:prstGeom>
          <a:ln w="15240">
            <a:solidFill>
              <a:srgbClr val="5F78A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0120" y="2999232"/>
            <a:ext cx="384048" cy="384048"/>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017520"/>
            <a:ext cx="384048" cy="365759"/>
          </a:xfrm>
          <a:prstGeom prst="rect">
            <a:avLst/>
          </a:prstGeom>
          <a:noFill/>
        </p:spPr>
        <p:txBody>
          <a:bodyPr wrap="square" lIns="36576" tIns="36576" rIns="36576" bIns="36576" anchor="ctr">
            <a:spAutoFit/>
          </a:bodyPr>
          <a:lstStyle/>
          <a:p>
            <a:pPr algn="ctr"/>
            <a:r>
              <a:rPr sz="1000" b="1">
                <a:solidFill>
                  <a:srgbClr val="0F172A"/>
                </a:solidFill>
                <a:latin typeface="Aptos"/>
              </a:rPr>
              <a:t>3</a:t>
            </a:r>
          </a:p>
        </p:txBody>
      </p:sp>
      <p:sp>
        <p:nvSpPr>
          <p:cNvPr id="18" name="TextBox 17"/>
          <p:cNvSpPr txBox="1"/>
          <p:nvPr/>
        </p:nvSpPr>
        <p:spPr>
          <a:xfrm>
            <a:off x="1554480" y="3044952"/>
            <a:ext cx="1325880" cy="201168"/>
          </a:xfrm>
          <a:prstGeom prst="rect">
            <a:avLst/>
          </a:prstGeom>
          <a:noFill/>
        </p:spPr>
        <p:txBody>
          <a:bodyPr wrap="square" lIns="36576" tIns="36576" rIns="36576" bIns="36576" anchor="t">
            <a:spAutoFit/>
          </a:bodyPr>
          <a:lstStyle/>
          <a:p>
            <a:pPr algn="l"/>
            <a:r>
              <a:rPr sz="1200" b="1">
                <a:solidFill>
                  <a:srgbClr val="FFFFFF"/>
                </a:solidFill>
                <a:latin typeface="Aptos"/>
              </a:rPr>
              <a:t>Predict</a:t>
            </a:r>
          </a:p>
        </p:txBody>
      </p:sp>
      <p:sp>
        <p:nvSpPr>
          <p:cNvPr id="19" name="TextBox 18"/>
          <p:cNvSpPr txBox="1"/>
          <p:nvPr/>
        </p:nvSpPr>
        <p:spPr>
          <a:xfrm>
            <a:off x="3108960" y="3044952"/>
            <a:ext cx="4846320" cy="201168"/>
          </a:xfrm>
          <a:prstGeom prst="rect">
            <a:avLst/>
          </a:prstGeom>
          <a:noFill/>
        </p:spPr>
        <p:txBody>
          <a:bodyPr wrap="square" lIns="36576" tIns="36576" rIns="36576" bIns="36576" anchor="t">
            <a:spAutoFit/>
          </a:bodyPr>
          <a:lstStyle/>
          <a:p>
            <a:pPr algn="l"/>
            <a:r>
              <a:rPr sz="1100" b="0">
                <a:solidFill>
                  <a:srgbClr val="CDD8E8"/>
                </a:solidFill>
                <a:latin typeface="Aptos"/>
              </a:rPr>
              <a:t>ModelService singleton</a:t>
            </a:r>
          </a:p>
        </p:txBody>
      </p:sp>
      <p:cxnSp>
        <p:nvCxnSpPr>
          <p:cNvPr id="20" name="Connector 19"/>
          <p:cNvCxnSpPr/>
          <p:nvPr/>
        </p:nvCxnSpPr>
        <p:spPr>
          <a:xfrm>
            <a:off x="1152144" y="3401568"/>
            <a:ext cx="0" cy="201168"/>
          </a:xfrm>
          <a:prstGeom prst="line">
            <a:avLst/>
          </a:prstGeom>
          <a:ln w="15240">
            <a:solidFill>
              <a:srgbClr val="5F78A5"/>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960120" y="3621024"/>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0120" y="3639312"/>
            <a:ext cx="384048" cy="365759"/>
          </a:xfrm>
          <a:prstGeom prst="rect">
            <a:avLst/>
          </a:prstGeom>
          <a:noFill/>
        </p:spPr>
        <p:txBody>
          <a:bodyPr wrap="square" lIns="36576" tIns="36576" rIns="36576" bIns="36576" anchor="ctr">
            <a:spAutoFit/>
          </a:bodyPr>
          <a:lstStyle/>
          <a:p>
            <a:pPr algn="ctr"/>
            <a:r>
              <a:rPr sz="1000" b="1">
                <a:solidFill>
                  <a:srgbClr val="0F172A"/>
                </a:solidFill>
                <a:latin typeface="Aptos"/>
              </a:rPr>
              <a:t>4</a:t>
            </a:r>
          </a:p>
        </p:txBody>
      </p:sp>
      <p:sp>
        <p:nvSpPr>
          <p:cNvPr id="23" name="TextBox 22"/>
          <p:cNvSpPr txBox="1"/>
          <p:nvPr/>
        </p:nvSpPr>
        <p:spPr>
          <a:xfrm>
            <a:off x="1554480" y="3666744"/>
            <a:ext cx="1325880" cy="201168"/>
          </a:xfrm>
          <a:prstGeom prst="rect">
            <a:avLst/>
          </a:prstGeom>
          <a:noFill/>
        </p:spPr>
        <p:txBody>
          <a:bodyPr wrap="square" lIns="36576" tIns="36576" rIns="36576" bIns="36576" anchor="t">
            <a:spAutoFit/>
          </a:bodyPr>
          <a:lstStyle/>
          <a:p>
            <a:pPr algn="l"/>
            <a:r>
              <a:rPr sz="1200" b="1">
                <a:solidFill>
                  <a:srgbClr val="FFFFFF"/>
                </a:solidFill>
                <a:latin typeface="Aptos"/>
              </a:rPr>
              <a:t>Retrieve</a:t>
            </a:r>
          </a:p>
        </p:txBody>
      </p:sp>
      <p:sp>
        <p:nvSpPr>
          <p:cNvPr id="24" name="TextBox 23"/>
          <p:cNvSpPr txBox="1"/>
          <p:nvPr/>
        </p:nvSpPr>
        <p:spPr>
          <a:xfrm>
            <a:off x="3108960" y="3666744"/>
            <a:ext cx="4846320" cy="201168"/>
          </a:xfrm>
          <a:prstGeom prst="rect">
            <a:avLst/>
          </a:prstGeom>
          <a:noFill/>
        </p:spPr>
        <p:txBody>
          <a:bodyPr wrap="square" lIns="36576" tIns="36576" rIns="36576" bIns="36576" anchor="t">
            <a:spAutoFit/>
          </a:bodyPr>
          <a:lstStyle/>
          <a:p>
            <a:pPr algn="l"/>
            <a:r>
              <a:rPr sz="1100" b="0">
                <a:solidFill>
                  <a:srgbClr val="CDD8E8"/>
                </a:solidFill>
                <a:latin typeface="Aptos"/>
              </a:rPr>
              <a:t>Providers + ranking</a:t>
            </a:r>
          </a:p>
        </p:txBody>
      </p:sp>
      <p:cxnSp>
        <p:nvCxnSpPr>
          <p:cNvPr id="25" name="Connector 24"/>
          <p:cNvCxnSpPr/>
          <p:nvPr/>
        </p:nvCxnSpPr>
        <p:spPr>
          <a:xfrm>
            <a:off x="1152144" y="4023360"/>
            <a:ext cx="0" cy="201168"/>
          </a:xfrm>
          <a:prstGeom prst="line">
            <a:avLst/>
          </a:prstGeom>
          <a:ln w="15240">
            <a:solidFill>
              <a:srgbClr val="5F78A5"/>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60120" y="4242816"/>
            <a:ext cx="384048" cy="384048"/>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4261104"/>
            <a:ext cx="384048" cy="365759"/>
          </a:xfrm>
          <a:prstGeom prst="rect">
            <a:avLst/>
          </a:prstGeom>
          <a:noFill/>
        </p:spPr>
        <p:txBody>
          <a:bodyPr wrap="square" lIns="36576" tIns="36576" rIns="36576" bIns="36576" anchor="ctr">
            <a:spAutoFit/>
          </a:bodyPr>
          <a:lstStyle/>
          <a:p>
            <a:pPr algn="ctr"/>
            <a:r>
              <a:rPr sz="1000" b="1">
                <a:solidFill>
                  <a:srgbClr val="0F172A"/>
                </a:solidFill>
                <a:latin typeface="Aptos"/>
              </a:rPr>
              <a:t>5</a:t>
            </a:r>
          </a:p>
        </p:txBody>
      </p:sp>
      <p:sp>
        <p:nvSpPr>
          <p:cNvPr id="28" name="TextBox 27"/>
          <p:cNvSpPr txBox="1"/>
          <p:nvPr/>
        </p:nvSpPr>
        <p:spPr>
          <a:xfrm>
            <a:off x="1554480" y="4288536"/>
            <a:ext cx="1325880" cy="201168"/>
          </a:xfrm>
          <a:prstGeom prst="rect">
            <a:avLst/>
          </a:prstGeom>
          <a:noFill/>
        </p:spPr>
        <p:txBody>
          <a:bodyPr wrap="square" lIns="36576" tIns="36576" rIns="36576" bIns="36576" anchor="t">
            <a:spAutoFit/>
          </a:bodyPr>
          <a:lstStyle/>
          <a:p>
            <a:pPr algn="l"/>
            <a:r>
              <a:rPr sz="1200" b="1">
                <a:solidFill>
                  <a:srgbClr val="FFFFFF"/>
                </a:solidFill>
                <a:latin typeface="Aptos"/>
              </a:rPr>
              <a:t>Reason</a:t>
            </a:r>
          </a:p>
        </p:txBody>
      </p:sp>
      <p:sp>
        <p:nvSpPr>
          <p:cNvPr id="29" name="TextBox 28"/>
          <p:cNvSpPr txBox="1"/>
          <p:nvPr/>
        </p:nvSpPr>
        <p:spPr>
          <a:xfrm>
            <a:off x="3108960" y="4288536"/>
            <a:ext cx="4846320" cy="201168"/>
          </a:xfrm>
          <a:prstGeom prst="rect">
            <a:avLst/>
          </a:prstGeom>
          <a:noFill/>
        </p:spPr>
        <p:txBody>
          <a:bodyPr wrap="square" lIns="36576" tIns="36576" rIns="36576" bIns="36576" anchor="t">
            <a:spAutoFit/>
          </a:bodyPr>
          <a:lstStyle/>
          <a:p>
            <a:pPr algn="l"/>
            <a:r>
              <a:rPr sz="1100" b="0">
                <a:solidFill>
                  <a:srgbClr val="CDD8E8"/>
                </a:solidFill>
                <a:latin typeface="Aptos"/>
              </a:rPr>
              <a:t>Agents + judge</a:t>
            </a:r>
          </a:p>
        </p:txBody>
      </p:sp>
      <p:cxnSp>
        <p:nvCxnSpPr>
          <p:cNvPr id="30" name="Connector 29"/>
          <p:cNvCxnSpPr/>
          <p:nvPr/>
        </p:nvCxnSpPr>
        <p:spPr>
          <a:xfrm>
            <a:off x="1152144" y="4645152"/>
            <a:ext cx="0" cy="201168"/>
          </a:xfrm>
          <a:prstGeom prst="line">
            <a:avLst/>
          </a:prstGeom>
          <a:ln w="15240">
            <a:solidFill>
              <a:srgbClr val="5F78A5"/>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60120" y="4864608"/>
            <a:ext cx="384048" cy="384048"/>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0120" y="4882896"/>
            <a:ext cx="384048" cy="365759"/>
          </a:xfrm>
          <a:prstGeom prst="rect">
            <a:avLst/>
          </a:prstGeom>
          <a:noFill/>
        </p:spPr>
        <p:txBody>
          <a:bodyPr wrap="square" lIns="36576" tIns="36576" rIns="36576" bIns="36576" anchor="ctr">
            <a:spAutoFit/>
          </a:bodyPr>
          <a:lstStyle/>
          <a:p>
            <a:pPr algn="ctr"/>
            <a:r>
              <a:rPr sz="1000" b="1">
                <a:solidFill>
                  <a:srgbClr val="0F172A"/>
                </a:solidFill>
                <a:latin typeface="Aptos"/>
              </a:rPr>
              <a:t>6</a:t>
            </a:r>
          </a:p>
        </p:txBody>
      </p:sp>
      <p:sp>
        <p:nvSpPr>
          <p:cNvPr id="33" name="TextBox 32"/>
          <p:cNvSpPr txBox="1"/>
          <p:nvPr/>
        </p:nvSpPr>
        <p:spPr>
          <a:xfrm>
            <a:off x="1554480" y="4910328"/>
            <a:ext cx="1325880" cy="201168"/>
          </a:xfrm>
          <a:prstGeom prst="rect">
            <a:avLst/>
          </a:prstGeom>
          <a:noFill/>
        </p:spPr>
        <p:txBody>
          <a:bodyPr wrap="square" lIns="36576" tIns="36576" rIns="36576" bIns="36576" anchor="t">
            <a:spAutoFit/>
          </a:bodyPr>
          <a:lstStyle/>
          <a:p>
            <a:pPr algn="l"/>
            <a:r>
              <a:rPr sz="1200" b="1">
                <a:solidFill>
                  <a:srgbClr val="FFFFFF"/>
                </a:solidFill>
                <a:latin typeface="Aptos"/>
              </a:rPr>
              <a:t>Respond</a:t>
            </a:r>
          </a:p>
        </p:txBody>
      </p:sp>
      <p:sp>
        <p:nvSpPr>
          <p:cNvPr id="34" name="TextBox 33"/>
          <p:cNvSpPr txBox="1"/>
          <p:nvPr/>
        </p:nvSpPr>
        <p:spPr>
          <a:xfrm>
            <a:off x="3108960" y="4910328"/>
            <a:ext cx="4846320" cy="201168"/>
          </a:xfrm>
          <a:prstGeom prst="rect">
            <a:avLst/>
          </a:prstGeom>
          <a:noFill/>
        </p:spPr>
        <p:txBody>
          <a:bodyPr wrap="square" lIns="36576" tIns="36576" rIns="36576" bIns="36576" anchor="t">
            <a:spAutoFit/>
          </a:bodyPr>
          <a:lstStyle/>
          <a:p>
            <a:pPr algn="l"/>
            <a:r>
              <a:rPr sz="1100" b="0">
                <a:solidFill>
                  <a:srgbClr val="CDD8E8"/>
                </a:solidFill>
                <a:latin typeface="Aptos"/>
              </a:rPr>
              <a:t>JSON + history</a:t>
            </a:r>
          </a:p>
        </p:txBody>
      </p:sp>
      <p:cxnSp>
        <p:nvCxnSpPr>
          <p:cNvPr id="35" name="Connector 34"/>
          <p:cNvCxnSpPr/>
          <p:nvPr/>
        </p:nvCxnSpPr>
        <p:spPr>
          <a:xfrm>
            <a:off x="1152144" y="5266944"/>
            <a:ext cx="0" cy="201168"/>
          </a:xfrm>
          <a:prstGeom prst="line">
            <a:avLst/>
          </a:prstGeom>
          <a:ln w="15240">
            <a:solidFill>
              <a:srgbClr val="5F78A5"/>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960120" y="5486400"/>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60120" y="5504688"/>
            <a:ext cx="384048" cy="365759"/>
          </a:xfrm>
          <a:prstGeom prst="rect">
            <a:avLst/>
          </a:prstGeom>
          <a:noFill/>
        </p:spPr>
        <p:txBody>
          <a:bodyPr wrap="square" lIns="36576" tIns="36576" rIns="36576" bIns="36576" anchor="ctr">
            <a:spAutoFit/>
          </a:bodyPr>
          <a:lstStyle/>
          <a:p>
            <a:pPr algn="ctr"/>
            <a:r>
              <a:rPr sz="1000" b="1">
                <a:solidFill>
                  <a:srgbClr val="0F172A"/>
                </a:solidFill>
                <a:latin typeface="Aptos"/>
              </a:rPr>
              <a:t>7</a:t>
            </a:r>
          </a:p>
        </p:txBody>
      </p:sp>
      <p:sp>
        <p:nvSpPr>
          <p:cNvPr id="38" name="TextBox 37"/>
          <p:cNvSpPr txBox="1"/>
          <p:nvPr/>
        </p:nvSpPr>
        <p:spPr>
          <a:xfrm>
            <a:off x="1554480" y="5532120"/>
            <a:ext cx="1325880" cy="201168"/>
          </a:xfrm>
          <a:prstGeom prst="rect">
            <a:avLst/>
          </a:prstGeom>
          <a:noFill/>
        </p:spPr>
        <p:txBody>
          <a:bodyPr wrap="square" lIns="36576" tIns="36576" rIns="36576" bIns="36576" anchor="t">
            <a:spAutoFit/>
          </a:bodyPr>
          <a:lstStyle/>
          <a:p>
            <a:pPr algn="l"/>
            <a:r>
              <a:rPr sz="1200" b="1">
                <a:solidFill>
                  <a:srgbClr val="FFFFFF"/>
                </a:solidFill>
                <a:latin typeface="Aptos"/>
              </a:rPr>
              <a:t>Render</a:t>
            </a:r>
          </a:p>
        </p:txBody>
      </p:sp>
      <p:sp>
        <p:nvSpPr>
          <p:cNvPr id="39" name="TextBox 38"/>
          <p:cNvSpPr txBox="1"/>
          <p:nvPr/>
        </p:nvSpPr>
        <p:spPr>
          <a:xfrm>
            <a:off x="3108960" y="5532120"/>
            <a:ext cx="4846320" cy="201168"/>
          </a:xfrm>
          <a:prstGeom prst="rect">
            <a:avLst/>
          </a:prstGeom>
          <a:noFill/>
        </p:spPr>
        <p:txBody>
          <a:bodyPr wrap="square" lIns="36576" tIns="36576" rIns="36576" bIns="36576" anchor="t">
            <a:spAutoFit/>
          </a:bodyPr>
          <a:lstStyle/>
          <a:p>
            <a:pPr algn="l"/>
            <a:r>
              <a:rPr sz="1100" b="0">
                <a:solidFill>
                  <a:srgbClr val="CDD8E8"/>
                </a:solidFill>
                <a:latin typeface="Aptos"/>
              </a:rPr>
              <a:t>Evidence + verdict UI</a:t>
            </a:r>
          </a:p>
        </p:txBody>
      </p:sp>
      <p:sp>
        <p:nvSpPr>
          <p:cNvPr id="40" name="Rounded Rectangle 39"/>
          <p:cNvSpPr/>
          <p:nvPr/>
        </p:nvSpPr>
        <p:spPr>
          <a:xfrm>
            <a:off x="8366760" y="1847088"/>
            <a:ext cx="2743200" cy="2834640"/>
          </a:xfrm>
          <a:prstGeom prst="roundRect">
            <a:avLst/>
          </a:prstGeom>
          <a:solidFill>
            <a:srgbClr val="18243D"/>
          </a:solidFill>
          <a:ln w="8890">
            <a:solidFill>
              <a:srgbClr val="495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686800" y="2148840"/>
            <a:ext cx="2103120" cy="228600"/>
          </a:xfrm>
          <a:prstGeom prst="rect">
            <a:avLst/>
          </a:prstGeom>
          <a:noFill/>
        </p:spPr>
        <p:txBody>
          <a:bodyPr wrap="square" lIns="36576" tIns="36576" rIns="36576" bIns="36576" anchor="t">
            <a:spAutoFit/>
          </a:bodyPr>
          <a:lstStyle/>
          <a:p>
            <a:pPr algn="ctr"/>
            <a:r>
              <a:rPr sz="1000" b="1">
                <a:solidFill>
                  <a:srgbClr val="D4A017"/>
                </a:solidFill>
                <a:latin typeface="Aptos"/>
              </a:rPr>
              <a:t>VISIBLE RESULT</a:t>
            </a:r>
          </a:p>
        </p:txBody>
      </p:sp>
      <p:sp>
        <p:nvSpPr>
          <p:cNvPr id="42" name="TextBox 41"/>
          <p:cNvSpPr txBox="1"/>
          <p:nvPr/>
        </p:nvSpPr>
        <p:spPr>
          <a:xfrm>
            <a:off x="8641080" y="2651760"/>
            <a:ext cx="2194560" cy="594360"/>
          </a:xfrm>
          <a:prstGeom prst="rect">
            <a:avLst/>
          </a:prstGeom>
          <a:noFill/>
        </p:spPr>
        <p:txBody>
          <a:bodyPr wrap="square" lIns="36576" tIns="36576" rIns="36576" bIns="36576" anchor="t">
            <a:spAutoFit/>
          </a:bodyPr>
          <a:lstStyle/>
          <a:p>
            <a:pPr algn="ctr"/>
            <a:r>
              <a:rPr sz="2100" b="1">
                <a:solidFill>
                  <a:srgbClr val="FFFFFF"/>
                </a:solidFill>
                <a:latin typeface="Aptos Display"/>
              </a:rPr>
              <a:t>Verdict
Confidence</a:t>
            </a:r>
          </a:p>
        </p:txBody>
      </p:sp>
      <p:sp>
        <p:nvSpPr>
          <p:cNvPr id="43" name="TextBox 42"/>
          <p:cNvSpPr txBox="1"/>
          <p:nvPr/>
        </p:nvSpPr>
        <p:spPr>
          <a:xfrm>
            <a:off x="8641080" y="3493008"/>
            <a:ext cx="2194560" cy="548640"/>
          </a:xfrm>
          <a:prstGeom prst="rect">
            <a:avLst/>
          </a:prstGeom>
          <a:noFill/>
        </p:spPr>
        <p:txBody>
          <a:bodyPr wrap="square" lIns="36576" tIns="36576" rIns="36576" bIns="36576" anchor="t">
            <a:spAutoFit/>
          </a:bodyPr>
          <a:lstStyle/>
          <a:p>
            <a:pPr algn="ctr"/>
            <a:r>
              <a:rPr sz="1300" b="0">
                <a:solidFill>
                  <a:srgbClr val="C6D3E6"/>
                </a:solidFill>
                <a:latin typeface="Aptos"/>
              </a:rPr>
              <a:t>Evidence
Reasoning
Model signal</a:t>
            </a:r>
          </a:p>
        </p:txBody>
      </p:sp>
      <p:sp>
        <p:nvSpPr>
          <p:cNvPr id="44" name="TextBox 43"/>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B4BECD"/>
                </a:solidFill>
                <a:latin typeface="Aptos"/>
              </a:rPr>
              <a:t>GENESIS  /  AI-POWERED CLAIM VERIFICATION</a:t>
            </a:r>
          </a:p>
        </p:txBody>
      </p:sp>
      <p:sp>
        <p:nvSpPr>
          <p:cNvPr id="45" name="TextBox 44"/>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B4BECD"/>
                </a:solidFill>
                <a:latin typeface="Aptos"/>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926080" cy="228600"/>
          </a:xfrm>
          <a:prstGeom prst="rect">
            <a:avLst/>
          </a:prstGeom>
          <a:noFill/>
        </p:spPr>
        <p:txBody>
          <a:bodyPr wrap="square" lIns="36576" tIns="36576" rIns="36576" bIns="36576" anchor="t">
            <a:spAutoFit/>
          </a:bodyPr>
          <a:lstStyle/>
          <a:p>
            <a:pPr algn="l"/>
            <a:r>
              <a:rPr sz="1000" b="1">
                <a:solidFill>
                  <a:srgbClr val="D4A017"/>
                </a:solidFill>
                <a:latin typeface="Aptos"/>
              </a:rPr>
              <a:t>08 / ACADEMIC MAPPING</a:t>
            </a:r>
          </a:p>
        </p:txBody>
      </p:sp>
      <p:sp>
        <p:nvSpPr>
          <p:cNvPr id="4" name="TextBox 3"/>
          <p:cNvSpPr txBox="1"/>
          <p:nvPr/>
        </p:nvSpPr>
        <p:spPr>
          <a:xfrm>
            <a:off x="594360" y="612648"/>
            <a:ext cx="10972800" cy="566928"/>
          </a:xfrm>
          <a:prstGeom prst="rect">
            <a:avLst/>
          </a:prstGeom>
          <a:noFill/>
        </p:spPr>
        <p:txBody>
          <a:bodyPr wrap="square" lIns="36576" tIns="36576" rIns="36576" bIns="36576" anchor="t">
            <a:spAutoFit/>
          </a:bodyPr>
          <a:lstStyle/>
          <a:p>
            <a:pPr algn="l"/>
            <a:r>
              <a:rPr sz="2800" b="1">
                <a:solidFill>
                  <a:srgbClr val="161E2D"/>
                </a:solidFill>
                <a:latin typeface="Aptos Display"/>
              </a:rPr>
              <a:t>Course outcomes demonstrated in code</a:t>
            </a:r>
          </a:p>
        </p:txBody>
      </p:sp>
      <p:sp>
        <p:nvSpPr>
          <p:cNvPr id="5" name="TextBox 4"/>
          <p:cNvSpPr txBox="1"/>
          <p:nvPr/>
        </p:nvSpPr>
        <p:spPr>
          <a:xfrm>
            <a:off x="612648" y="1216152"/>
            <a:ext cx="10607040" cy="347472"/>
          </a:xfrm>
          <a:prstGeom prst="rect">
            <a:avLst/>
          </a:prstGeom>
          <a:noFill/>
        </p:spPr>
        <p:txBody>
          <a:bodyPr wrap="square" lIns="36576" tIns="36576" rIns="36576" bIns="36576" anchor="t">
            <a:spAutoFit/>
          </a:bodyPr>
          <a:lstStyle/>
          <a:p>
            <a:pPr algn="l"/>
            <a:r>
              <a:rPr sz="1250" b="0">
                <a:solidFill>
                  <a:srgbClr val="58657A"/>
                </a:solidFill>
                <a:latin typeface="Aptos"/>
              </a:rPr>
              <a:t>Evidence-based mapping to the implemented Genesis system.</a:t>
            </a:r>
          </a:p>
        </p:txBody>
      </p:sp>
      <p:sp>
        <p:nvSpPr>
          <p:cNvPr id="6" name="Rounded Rectangle 5"/>
          <p:cNvSpPr/>
          <p:nvPr/>
        </p:nvSpPr>
        <p:spPr>
          <a:xfrm>
            <a:off x="548640" y="1664208"/>
            <a:ext cx="713232" cy="438912"/>
          </a:xfrm>
          <a:prstGeom prst="roundRect">
            <a:avLst/>
          </a:prstGeom>
          <a:solidFill>
            <a:srgbClr val="0F172A"/>
          </a:solidFill>
          <a:ln w="889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261872" y="1664208"/>
            <a:ext cx="2331720" cy="438912"/>
          </a:xfrm>
          <a:prstGeom prst="roundRect">
            <a:avLst/>
          </a:prstGeom>
          <a:solidFill>
            <a:srgbClr val="0F172A"/>
          </a:solidFill>
          <a:ln w="889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593592" y="1664208"/>
            <a:ext cx="8046720" cy="438912"/>
          </a:xfrm>
          <a:prstGeom prst="roundRect">
            <a:avLst/>
          </a:prstGeom>
          <a:solidFill>
            <a:srgbClr val="0F172A"/>
          </a:solidFill>
          <a:ln w="889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773936"/>
            <a:ext cx="493776" cy="182880"/>
          </a:xfrm>
          <a:prstGeom prst="rect">
            <a:avLst/>
          </a:prstGeom>
          <a:noFill/>
        </p:spPr>
        <p:txBody>
          <a:bodyPr wrap="square" lIns="36576" tIns="36576" rIns="36576" bIns="36576" anchor="t">
            <a:spAutoFit/>
          </a:bodyPr>
          <a:lstStyle/>
          <a:p>
            <a:pPr algn="l"/>
            <a:r>
              <a:rPr sz="1000" b="1">
                <a:solidFill>
                  <a:srgbClr val="FFFFFF"/>
                </a:solidFill>
                <a:latin typeface="Aptos"/>
              </a:rPr>
              <a:t>CO</a:t>
            </a:r>
          </a:p>
        </p:txBody>
      </p:sp>
      <p:sp>
        <p:nvSpPr>
          <p:cNvPr id="10" name="TextBox 9"/>
          <p:cNvSpPr txBox="1"/>
          <p:nvPr/>
        </p:nvSpPr>
        <p:spPr>
          <a:xfrm>
            <a:off x="1371600" y="1773936"/>
            <a:ext cx="2112263" cy="182880"/>
          </a:xfrm>
          <a:prstGeom prst="rect">
            <a:avLst/>
          </a:prstGeom>
          <a:noFill/>
        </p:spPr>
        <p:txBody>
          <a:bodyPr wrap="square" lIns="36576" tIns="36576" rIns="36576" bIns="36576" anchor="t">
            <a:spAutoFit/>
          </a:bodyPr>
          <a:lstStyle/>
          <a:p>
            <a:pPr algn="l"/>
            <a:r>
              <a:rPr sz="1000" b="1">
                <a:solidFill>
                  <a:srgbClr val="FFFFFF"/>
                </a:solidFill>
                <a:latin typeface="Aptos"/>
              </a:rPr>
              <a:t>Outcome</a:t>
            </a:r>
          </a:p>
        </p:txBody>
      </p:sp>
      <p:sp>
        <p:nvSpPr>
          <p:cNvPr id="11" name="TextBox 10"/>
          <p:cNvSpPr txBox="1"/>
          <p:nvPr/>
        </p:nvSpPr>
        <p:spPr>
          <a:xfrm>
            <a:off x="3703320" y="1773936"/>
            <a:ext cx="7827264" cy="182880"/>
          </a:xfrm>
          <a:prstGeom prst="rect">
            <a:avLst/>
          </a:prstGeom>
          <a:noFill/>
        </p:spPr>
        <p:txBody>
          <a:bodyPr wrap="square" lIns="36576" tIns="36576" rIns="36576" bIns="36576" anchor="t">
            <a:spAutoFit/>
          </a:bodyPr>
          <a:lstStyle/>
          <a:p>
            <a:pPr algn="l"/>
            <a:r>
              <a:rPr sz="1000" b="1">
                <a:solidFill>
                  <a:srgbClr val="FFFFFF"/>
                </a:solidFill>
                <a:latin typeface="Aptos"/>
              </a:rPr>
              <a:t>Genesis implementation</a:t>
            </a:r>
          </a:p>
        </p:txBody>
      </p:sp>
      <p:sp>
        <p:nvSpPr>
          <p:cNvPr id="12" name="Rounded Rectangle 11"/>
          <p:cNvSpPr/>
          <p:nvPr/>
        </p:nvSpPr>
        <p:spPr>
          <a:xfrm>
            <a:off x="548640" y="2103120"/>
            <a:ext cx="713232"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261872" y="2103120"/>
            <a:ext cx="2331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593592" y="2103120"/>
            <a:ext cx="8046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 y="2212848"/>
            <a:ext cx="493776" cy="219456"/>
          </a:xfrm>
          <a:prstGeom prst="rect">
            <a:avLst/>
          </a:prstGeom>
          <a:noFill/>
        </p:spPr>
        <p:txBody>
          <a:bodyPr wrap="square" lIns="36576" tIns="36576" rIns="36576" bIns="36576" anchor="t">
            <a:spAutoFit/>
          </a:bodyPr>
          <a:lstStyle/>
          <a:p>
            <a:pPr algn="l"/>
            <a:r>
              <a:rPr sz="1100" b="1">
                <a:solidFill>
                  <a:srgbClr val="4F46E5"/>
                </a:solidFill>
                <a:latin typeface="Aptos"/>
              </a:rPr>
              <a:t>CO1</a:t>
            </a:r>
          </a:p>
        </p:txBody>
      </p:sp>
      <p:sp>
        <p:nvSpPr>
          <p:cNvPr id="16" name="TextBox 15"/>
          <p:cNvSpPr txBox="1"/>
          <p:nvPr/>
        </p:nvSpPr>
        <p:spPr>
          <a:xfrm>
            <a:off x="1371600" y="2194560"/>
            <a:ext cx="2130551" cy="411480"/>
          </a:xfrm>
          <a:prstGeom prst="rect">
            <a:avLst/>
          </a:prstGeom>
          <a:noFill/>
        </p:spPr>
        <p:txBody>
          <a:bodyPr wrap="square" lIns="36576" tIns="36576" rIns="36576" bIns="36576" anchor="t">
            <a:spAutoFit/>
          </a:bodyPr>
          <a:lstStyle/>
          <a:p>
            <a:pPr algn="l"/>
            <a:r>
              <a:rPr sz="1030" b="1">
                <a:solidFill>
                  <a:srgbClr val="161E2D"/>
                </a:solidFill>
                <a:latin typeface="Aptos"/>
              </a:rPr>
              <a:t>Intelligent Agent Models</a:t>
            </a:r>
          </a:p>
        </p:txBody>
      </p:sp>
      <p:sp>
        <p:nvSpPr>
          <p:cNvPr id="17" name="TextBox 16"/>
          <p:cNvSpPr txBox="1"/>
          <p:nvPr/>
        </p:nvSpPr>
        <p:spPr>
          <a:xfrm>
            <a:off x="3703320" y="2194560"/>
            <a:ext cx="7827264" cy="475488"/>
          </a:xfrm>
          <a:prstGeom prst="rect">
            <a:avLst/>
          </a:prstGeom>
          <a:noFill/>
        </p:spPr>
        <p:txBody>
          <a:bodyPr wrap="square" lIns="36576" tIns="36576" rIns="36576" bIns="36576" anchor="t">
            <a:spAutoFit/>
          </a:bodyPr>
          <a:lstStyle/>
          <a:p>
            <a:pPr algn="l"/>
            <a:r>
              <a:rPr sz="950" b="0">
                <a:solidFill>
                  <a:srgbClr val="58657A"/>
                </a:solidFill>
                <a:latin typeface="Aptos"/>
              </a:rPr>
              <a:t>Claim analyzer, prosecutor, defender, judge, and graph/sequential orchestration in backend/agents.py.</a:t>
            </a:r>
          </a:p>
        </p:txBody>
      </p:sp>
      <p:sp>
        <p:nvSpPr>
          <p:cNvPr id="18" name="Rounded Rectangle 17"/>
          <p:cNvSpPr/>
          <p:nvPr/>
        </p:nvSpPr>
        <p:spPr>
          <a:xfrm>
            <a:off x="548640" y="2816352"/>
            <a:ext cx="713232"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261872" y="2816352"/>
            <a:ext cx="2331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593592" y="2816352"/>
            <a:ext cx="8046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2926080"/>
            <a:ext cx="493776" cy="219456"/>
          </a:xfrm>
          <a:prstGeom prst="rect">
            <a:avLst/>
          </a:prstGeom>
          <a:noFill/>
        </p:spPr>
        <p:txBody>
          <a:bodyPr wrap="square" lIns="36576" tIns="36576" rIns="36576" bIns="36576" anchor="t">
            <a:spAutoFit/>
          </a:bodyPr>
          <a:lstStyle/>
          <a:p>
            <a:pPr algn="l"/>
            <a:r>
              <a:rPr sz="1100" b="1">
                <a:solidFill>
                  <a:srgbClr val="4F46E5"/>
                </a:solidFill>
                <a:latin typeface="Aptos"/>
              </a:rPr>
              <a:t>CO2</a:t>
            </a:r>
          </a:p>
        </p:txBody>
      </p:sp>
      <p:sp>
        <p:nvSpPr>
          <p:cNvPr id="22" name="TextBox 21"/>
          <p:cNvSpPr txBox="1"/>
          <p:nvPr/>
        </p:nvSpPr>
        <p:spPr>
          <a:xfrm>
            <a:off x="1371600" y="2907792"/>
            <a:ext cx="2130551" cy="411480"/>
          </a:xfrm>
          <a:prstGeom prst="rect">
            <a:avLst/>
          </a:prstGeom>
          <a:noFill/>
        </p:spPr>
        <p:txBody>
          <a:bodyPr wrap="square" lIns="36576" tIns="36576" rIns="36576" bIns="36576" anchor="t">
            <a:spAutoFit/>
          </a:bodyPr>
          <a:lstStyle/>
          <a:p>
            <a:pPr algn="l"/>
            <a:r>
              <a:rPr sz="1030" b="1">
                <a:solidFill>
                  <a:srgbClr val="161E2D"/>
                </a:solidFill>
                <a:latin typeface="Aptos"/>
              </a:rPr>
              <a:t>Uninformed &amp; Informed Search</a:t>
            </a:r>
          </a:p>
        </p:txBody>
      </p:sp>
      <p:sp>
        <p:nvSpPr>
          <p:cNvPr id="23" name="TextBox 22"/>
          <p:cNvSpPr txBox="1"/>
          <p:nvPr/>
        </p:nvSpPr>
        <p:spPr>
          <a:xfrm>
            <a:off x="3703320" y="2907792"/>
            <a:ext cx="7827264" cy="475488"/>
          </a:xfrm>
          <a:prstGeom prst="rect">
            <a:avLst/>
          </a:prstGeom>
          <a:noFill/>
        </p:spPr>
        <p:txBody>
          <a:bodyPr wrap="square" lIns="36576" tIns="36576" rIns="36576" bIns="36576" anchor="t">
            <a:spAutoFit/>
          </a:bodyPr>
          <a:lstStyle/>
          <a:p>
            <a:pPr algn="l"/>
            <a:r>
              <a:rPr sz="950" b="0">
                <a:solidFill>
                  <a:srgbClr val="58657A"/>
                </a:solidFill>
                <a:latin typeface="Aptos"/>
              </a:rPr>
              <a:t>Tavily, SerpAPI, NewsAPI, local fallback, query expansion, filtering, relevance ranking, and optional FAISS search.</a:t>
            </a:r>
          </a:p>
        </p:txBody>
      </p:sp>
      <p:sp>
        <p:nvSpPr>
          <p:cNvPr id="24" name="Rounded Rectangle 23"/>
          <p:cNvSpPr/>
          <p:nvPr/>
        </p:nvSpPr>
        <p:spPr>
          <a:xfrm>
            <a:off x="548640" y="3529584"/>
            <a:ext cx="713232"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261872" y="3529584"/>
            <a:ext cx="2331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593592" y="3529584"/>
            <a:ext cx="8046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 y="3639312"/>
            <a:ext cx="493776" cy="219456"/>
          </a:xfrm>
          <a:prstGeom prst="rect">
            <a:avLst/>
          </a:prstGeom>
          <a:noFill/>
        </p:spPr>
        <p:txBody>
          <a:bodyPr wrap="square" lIns="36576" tIns="36576" rIns="36576" bIns="36576" anchor="t">
            <a:spAutoFit/>
          </a:bodyPr>
          <a:lstStyle/>
          <a:p>
            <a:pPr algn="l"/>
            <a:r>
              <a:rPr sz="1100" b="1">
                <a:solidFill>
                  <a:srgbClr val="4F46E5"/>
                </a:solidFill>
                <a:latin typeface="Aptos"/>
              </a:rPr>
              <a:t>CO3</a:t>
            </a:r>
          </a:p>
        </p:txBody>
      </p:sp>
      <p:sp>
        <p:nvSpPr>
          <p:cNvPr id="28" name="TextBox 27"/>
          <p:cNvSpPr txBox="1"/>
          <p:nvPr/>
        </p:nvSpPr>
        <p:spPr>
          <a:xfrm>
            <a:off x="1371600" y="3621024"/>
            <a:ext cx="2130551" cy="411480"/>
          </a:xfrm>
          <a:prstGeom prst="rect">
            <a:avLst/>
          </a:prstGeom>
          <a:noFill/>
        </p:spPr>
        <p:txBody>
          <a:bodyPr wrap="square" lIns="36576" tIns="36576" rIns="36576" bIns="36576" anchor="t">
            <a:spAutoFit/>
          </a:bodyPr>
          <a:lstStyle/>
          <a:p>
            <a:pPr algn="l"/>
            <a:r>
              <a:rPr sz="1030" b="1">
                <a:solidFill>
                  <a:srgbClr val="161E2D"/>
                </a:solidFill>
                <a:latin typeface="Aptos"/>
              </a:rPr>
              <a:t>Knowledge Representation</a:t>
            </a:r>
          </a:p>
        </p:txBody>
      </p:sp>
      <p:sp>
        <p:nvSpPr>
          <p:cNvPr id="29" name="TextBox 28"/>
          <p:cNvSpPr txBox="1"/>
          <p:nvPr/>
        </p:nvSpPr>
        <p:spPr>
          <a:xfrm>
            <a:off x="3703320" y="3621024"/>
            <a:ext cx="7827264" cy="475488"/>
          </a:xfrm>
          <a:prstGeom prst="rect">
            <a:avLst/>
          </a:prstGeom>
          <a:noFill/>
        </p:spPr>
        <p:txBody>
          <a:bodyPr wrap="square" lIns="36576" tIns="36576" rIns="36576" bIns="36576" anchor="t">
            <a:spAutoFit/>
          </a:bodyPr>
          <a:lstStyle/>
          <a:p>
            <a:pPr algn="l"/>
            <a:r>
              <a:rPr sz="950" b="0">
                <a:solidFill>
                  <a:srgbClr val="58657A"/>
                </a:solidFill>
                <a:latin typeface="Aptos"/>
              </a:rPr>
              <a:t>Structured verification state, evidence records, agent arguments, SQLite ORM models, JSON snapshots, and prompt context.</a:t>
            </a:r>
          </a:p>
        </p:txBody>
      </p:sp>
      <p:sp>
        <p:nvSpPr>
          <p:cNvPr id="30" name="Rounded Rectangle 29"/>
          <p:cNvSpPr/>
          <p:nvPr/>
        </p:nvSpPr>
        <p:spPr>
          <a:xfrm>
            <a:off x="548640" y="4242816"/>
            <a:ext cx="713232"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261872" y="4242816"/>
            <a:ext cx="2331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3593592" y="4242816"/>
            <a:ext cx="8046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8368" y="4352544"/>
            <a:ext cx="493776" cy="219456"/>
          </a:xfrm>
          <a:prstGeom prst="rect">
            <a:avLst/>
          </a:prstGeom>
          <a:noFill/>
        </p:spPr>
        <p:txBody>
          <a:bodyPr wrap="square" lIns="36576" tIns="36576" rIns="36576" bIns="36576" anchor="t">
            <a:spAutoFit/>
          </a:bodyPr>
          <a:lstStyle/>
          <a:p>
            <a:pPr algn="l"/>
            <a:r>
              <a:rPr sz="1100" b="1">
                <a:solidFill>
                  <a:srgbClr val="4F46E5"/>
                </a:solidFill>
                <a:latin typeface="Aptos"/>
              </a:rPr>
              <a:t>CO4</a:t>
            </a:r>
          </a:p>
        </p:txBody>
      </p:sp>
      <p:sp>
        <p:nvSpPr>
          <p:cNvPr id="34" name="TextBox 33"/>
          <p:cNvSpPr txBox="1"/>
          <p:nvPr/>
        </p:nvSpPr>
        <p:spPr>
          <a:xfrm>
            <a:off x="1371600" y="4334255"/>
            <a:ext cx="2130551" cy="411480"/>
          </a:xfrm>
          <a:prstGeom prst="rect">
            <a:avLst/>
          </a:prstGeom>
          <a:noFill/>
        </p:spPr>
        <p:txBody>
          <a:bodyPr wrap="square" lIns="36576" tIns="36576" rIns="36576" bIns="36576" anchor="t">
            <a:spAutoFit/>
          </a:bodyPr>
          <a:lstStyle/>
          <a:p>
            <a:pPr algn="l"/>
            <a:r>
              <a:rPr sz="1030" b="1">
                <a:solidFill>
                  <a:srgbClr val="161E2D"/>
                </a:solidFill>
                <a:latin typeface="Aptos"/>
              </a:rPr>
              <a:t>Reasoning Under Uncertainty</a:t>
            </a:r>
          </a:p>
        </p:txBody>
      </p:sp>
      <p:sp>
        <p:nvSpPr>
          <p:cNvPr id="35" name="TextBox 34"/>
          <p:cNvSpPr txBox="1"/>
          <p:nvPr/>
        </p:nvSpPr>
        <p:spPr>
          <a:xfrm>
            <a:off x="3703320" y="4334255"/>
            <a:ext cx="7827264" cy="475488"/>
          </a:xfrm>
          <a:prstGeom prst="rect">
            <a:avLst/>
          </a:prstGeom>
          <a:noFill/>
        </p:spPr>
        <p:txBody>
          <a:bodyPr wrap="square" lIns="36576" tIns="36576" rIns="36576" bIns="36576" anchor="t">
            <a:spAutoFit/>
          </a:bodyPr>
          <a:lstStyle/>
          <a:p>
            <a:pPr algn="l"/>
            <a:r>
              <a:rPr sz="950" b="0">
                <a:solidFill>
                  <a:srgbClr val="58657A"/>
                </a:solidFill>
                <a:latin typeface="Aptos"/>
              </a:rPr>
              <a:t>Confidence scores, source credibility/freshness, disagreement score, supporting vs contradicting evidence, and verdict hardening.</a:t>
            </a:r>
          </a:p>
        </p:txBody>
      </p:sp>
      <p:sp>
        <p:nvSpPr>
          <p:cNvPr id="36" name="Rounded Rectangle 35"/>
          <p:cNvSpPr/>
          <p:nvPr/>
        </p:nvSpPr>
        <p:spPr>
          <a:xfrm>
            <a:off x="548640" y="4956048"/>
            <a:ext cx="713232"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261872" y="4956048"/>
            <a:ext cx="2331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3593592" y="4956048"/>
            <a:ext cx="8046720" cy="694944"/>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8368" y="5065776"/>
            <a:ext cx="493776" cy="219456"/>
          </a:xfrm>
          <a:prstGeom prst="rect">
            <a:avLst/>
          </a:prstGeom>
          <a:noFill/>
        </p:spPr>
        <p:txBody>
          <a:bodyPr wrap="square" lIns="36576" tIns="36576" rIns="36576" bIns="36576" anchor="t">
            <a:spAutoFit/>
          </a:bodyPr>
          <a:lstStyle/>
          <a:p>
            <a:pPr algn="l"/>
            <a:r>
              <a:rPr sz="1100" b="1">
                <a:solidFill>
                  <a:srgbClr val="4F46E5"/>
                </a:solidFill>
                <a:latin typeface="Aptos"/>
              </a:rPr>
              <a:t>CO5</a:t>
            </a:r>
          </a:p>
        </p:txBody>
      </p:sp>
      <p:sp>
        <p:nvSpPr>
          <p:cNvPr id="40" name="TextBox 39"/>
          <p:cNvSpPr txBox="1"/>
          <p:nvPr/>
        </p:nvSpPr>
        <p:spPr>
          <a:xfrm>
            <a:off x="1371600" y="5047488"/>
            <a:ext cx="2130551" cy="411480"/>
          </a:xfrm>
          <a:prstGeom prst="rect">
            <a:avLst/>
          </a:prstGeom>
          <a:noFill/>
        </p:spPr>
        <p:txBody>
          <a:bodyPr wrap="square" lIns="36576" tIns="36576" rIns="36576" bIns="36576" anchor="t">
            <a:spAutoFit/>
          </a:bodyPr>
          <a:lstStyle/>
          <a:p>
            <a:pPr algn="l"/>
            <a:r>
              <a:rPr sz="1030" b="1">
                <a:solidFill>
                  <a:srgbClr val="161E2D"/>
                </a:solidFill>
                <a:latin typeface="Aptos"/>
              </a:rPr>
              <a:t>Machine Learning Techniques</a:t>
            </a:r>
          </a:p>
        </p:txBody>
      </p:sp>
      <p:sp>
        <p:nvSpPr>
          <p:cNvPr id="41" name="TextBox 40"/>
          <p:cNvSpPr txBox="1"/>
          <p:nvPr/>
        </p:nvSpPr>
        <p:spPr>
          <a:xfrm>
            <a:off x="3703320" y="5047488"/>
            <a:ext cx="7827264" cy="475488"/>
          </a:xfrm>
          <a:prstGeom prst="rect">
            <a:avLst/>
          </a:prstGeom>
          <a:noFill/>
        </p:spPr>
        <p:txBody>
          <a:bodyPr wrap="square" lIns="36576" tIns="36576" rIns="36576" bIns="36576" anchor="t">
            <a:spAutoFit/>
          </a:bodyPr>
          <a:lstStyle/>
          <a:p>
            <a:pPr algn="l"/>
            <a:r>
              <a:rPr sz="950" b="0">
                <a:solidFill>
                  <a:srgbClr val="58657A"/>
                </a:solidFill>
                <a:latin typeface="Aptos"/>
              </a:rPr>
              <a:t>WELFake/DistilBERT training code, PyTorch inference, tokenizer/model loading, class probabilities, and optional LLM reasoning.</a:t>
            </a:r>
          </a:p>
        </p:txBody>
      </p:sp>
      <p:sp>
        <p:nvSpPr>
          <p:cNvPr id="42" name="TextBox 41"/>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58657A"/>
                </a:solidFill>
                <a:latin typeface="Aptos"/>
              </a:rPr>
              <a:t>GENESIS  /  AI-POWERED CLAIM VERIFICATION</a:t>
            </a:r>
          </a:p>
        </p:txBody>
      </p:sp>
      <p:sp>
        <p:nvSpPr>
          <p:cNvPr id="43" name="TextBox 42"/>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58657A"/>
                </a:solidFill>
                <a:latin typeface="Aptos"/>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2926080" cy="228600"/>
          </a:xfrm>
          <a:prstGeom prst="rect">
            <a:avLst/>
          </a:prstGeom>
          <a:noFill/>
        </p:spPr>
        <p:txBody>
          <a:bodyPr wrap="square" lIns="36576" tIns="36576" rIns="36576" bIns="36576" anchor="t">
            <a:spAutoFit/>
          </a:bodyPr>
          <a:lstStyle/>
          <a:p>
            <a:pPr algn="l"/>
            <a:r>
              <a:rPr sz="1000" b="1">
                <a:solidFill>
                  <a:srgbClr val="D4A017"/>
                </a:solidFill>
                <a:latin typeface="Aptos"/>
              </a:rPr>
              <a:t>10 / ROADMAP</a:t>
            </a:r>
          </a:p>
        </p:txBody>
      </p:sp>
      <p:sp>
        <p:nvSpPr>
          <p:cNvPr id="4" name="TextBox 3"/>
          <p:cNvSpPr txBox="1"/>
          <p:nvPr/>
        </p:nvSpPr>
        <p:spPr>
          <a:xfrm>
            <a:off x="594360" y="612648"/>
            <a:ext cx="10972800" cy="566928"/>
          </a:xfrm>
          <a:prstGeom prst="rect">
            <a:avLst/>
          </a:prstGeom>
          <a:noFill/>
        </p:spPr>
        <p:txBody>
          <a:bodyPr wrap="square" lIns="36576" tIns="36576" rIns="36576" bIns="36576" anchor="t">
            <a:spAutoFit/>
          </a:bodyPr>
          <a:lstStyle/>
          <a:p>
            <a:pPr algn="l"/>
            <a:r>
              <a:rPr sz="2800" b="1">
                <a:solidFill>
                  <a:srgbClr val="161E2D"/>
                </a:solidFill>
                <a:latin typeface="Aptos Display"/>
              </a:rPr>
              <a:t>Next opportunities</a:t>
            </a:r>
          </a:p>
        </p:txBody>
      </p:sp>
      <p:sp>
        <p:nvSpPr>
          <p:cNvPr id="5" name="TextBox 4"/>
          <p:cNvSpPr txBox="1"/>
          <p:nvPr/>
        </p:nvSpPr>
        <p:spPr>
          <a:xfrm>
            <a:off x="612648" y="1216152"/>
            <a:ext cx="10607040" cy="347472"/>
          </a:xfrm>
          <a:prstGeom prst="rect">
            <a:avLst/>
          </a:prstGeom>
          <a:noFill/>
        </p:spPr>
        <p:txBody>
          <a:bodyPr wrap="square" lIns="36576" tIns="36576" rIns="36576" bIns="36576" anchor="t">
            <a:spAutoFit/>
          </a:bodyPr>
          <a:lstStyle/>
          <a:p>
            <a:pPr algn="l"/>
            <a:r>
              <a:rPr sz="1250" b="0">
                <a:solidFill>
                  <a:srgbClr val="58657A"/>
                </a:solidFill>
                <a:latin typeface="Aptos"/>
              </a:rPr>
              <a:t>Realistic improvements aligned with current code, not promises of features that already exist.</a:t>
            </a:r>
          </a:p>
        </p:txBody>
      </p:sp>
      <p:sp>
        <p:nvSpPr>
          <p:cNvPr id="6" name="Rounded Rectangle 5"/>
          <p:cNvSpPr/>
          <p:nvPr/>
        </p:nvSpPr>
        <p:spPr>
          <a:xfrm>
            <a:off x="685800" y="1737360"/>
            <a:ext cx="3246120" cy="150876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965960"/>
            <a:ext cx="384048" cy="384048"/>
          </a:xfrm>
          <a:prstGeom prst="ellipse">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84248"/>
            <a:ext cx="384048" cy="365759"/>
          </a:xfrm>
          <a:prstGeom prst="rect">
            <a:avLst/>
          </a:prstGeom>
          <a:noFill/>
        </p:spPr>
        <p:txBody>
          <a:bodyPr wrap="square" lIns="36576" tIns="36576" rIns="36576" bIns="36576" anchor="ctr">
            <a:spAutoFit/>
          </a:bodyPr>
          <a:lstStyle/>
          <a:p>
            <a:pPr algn="ctr"/>
            <a:r>
              <a:rPr sz="1000" b="1">
                <a:solidFill>
                  <a:srgbClr val="FFFFFF"/>
                </a:solidFill>
                <a:latin typeface="Aptos"/>
              </a:rPr>
              <a:t>1</a:t>
            </a:r>
          </a:p>
        </p:txBody>
      </p:sp>
      <p:sp>
        <p:nvSpPr>
          <p:cNvPr id="9" name="TextBox 8"/>
          <p:cNvSpPr txBox="1"/>
          <p:nvPr/>
        </p:nvSpPr>
        <p:spPr>
          <a:xfrm>
            <a:off x="1435607" y="1965960"/>
            <a:ext cx="2240280" cy="256032"/>
          </a:xfrm>
          <a:prstGeom prst="rect">
            <a:avLst/>
          </a:prstGeom>
          <a:noFill/>
        </p:spPr>
        <p:txBody>
          <a:bodyPr wrap="square" lIns="36576" tIns="36576" rIns="36576" bIns="36576" anchor="t">
            <a:spAutoFit/>
          </a:bodyPr>
          <a:lstStyle/>
          <a:p>
            <a:pPr algn="l"/>
            <a:r>
              <a:rPr sz="1400" b="1">
                <a:solidFill>
                  <a:srgbClr val="161E2D"/>
                </a:solidFill>
                <a:latin typeface="Aptos"/>
              </a:rPr>
              <a:t>Reliability</a:t>
            </a:r>
          </a:p>
        </p:txBody>
      </p:sp>
      <p:sp>
        <p:nvSpPr>
          <p:cNvPr id="10" name="TextBox 9"/>
          <p:cNvSpPr txBox="1"/>
          <p:nvPr/>
        </p:nvSpPr>
        <p:spPr>
          <a:xfrm>
            <a:off x="914400" y="2450591"/>
            <a:ext cx="2761488" cy="530352"/>
          </a:xfrm>
          <a:prstGeom prst="rect">
            <a:avLst/>
          </a:prstGeom>
          <a:noFill/>
        </p:spPr>
        <p:txBody>
          <a:bodyPr wrap="square" lIns="36576" tIns="36576" rIns="36576" bIns="36576" anchor="t">
            <a:spAutoFit/>
          </a:bodyPr>
          <a:lstStyle/>
          <a:p>
            <a:pPr algn="l"/>
            <a:r>
              <a:rPr sz="1040" b="0">
                <a:solidFill>
                  <a:srgbClr val="58657A"/>
                </a:solidFill>
                <a:latin typeface="Aptos"/>
              </a:rPr>
              <a:t>Pin compatible auth dependencies; add API contract and end-to-end tests.</a:t>
            </a:r>
          </a:p>
        </p:txBody>
      </p:sp>
      <p:sp>
        <p:nvSpPr>
          <p:cNvPr id="11" name="Rounded Rectangle 10"/>
          <p:cNvSpPr/>
          <p:nvPr/>
        </p:nvSpPr>
        <p:spPr>
          <a:xfrm>
            <a:off x="4480560" y="1737360"/>
            <a:ext cx="3246120" cy="150876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709160" y="1965960"/>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9160" y="1984248"/>
            <a:ext cx="384048" cy="365759"/>
          </a:xfrm>
          <a:prstGeom prst="rect">
            <a:avLst/>
          </a:prstGeom>
          <a:noFill/>
        </p:spPr>
        <p:txBody>
          <a:bodyPr wrap="square" lIns="36576" tIns="36576" rIns="36576" bIns="36576" anchor="ctr">
            <a:spAutoFit/>
          </a:bodyPr>
          <a:lstStyle/>
          <a:p>
            <a:pPr algn="ctr"/>
            <a:r>
              <a:rPr sz="1000" b="1">
                <a:solidFill>
                  <a:srgbClr val="FFFFFF"/>
                </a:solidFill>
                <a:latin typeface="Aptos"/>
              </a:rPr>
              <a:t>2</a:t>
            </a:r>
          </a:p>
        </p:txBody>
      </p:sp>
      <p:sp>
        <p:nvSpPr>
          <p:cNvPr id="14" name="TextBox 13"/>
          <p:cNvSpPr txBox="1"/>
          <p:nvPr/>
        </p:nvSpPr>
        <p:spPr>
          <a:xfrm>
            <a:off x="5230368" y="1965960"/>
            <a:ext cx="2240280" cy="256032"/>
          </a:xfrm>
          <a:prstGeom prst="rect">
            <a:avLst/>
          </a:prstGeom>
          <a:noFill/>
        </p:spPr>
        <p:txBody>
          <a:bodyPr wrap="square" lIns="36576" tIns="36576" rIns="36576" bIns="36576" anchor="t">
            <a:spAutoFit/>
          </a:bodyPr>
          <a:lstStyle/>
          <a:p>
            <a:pPr algn="l"/>
            <a:r>
              <a:rPr sz="1400" b="1">
                <a:solidFill>
                  <a:srgbClr val="161E2D"/>
                </a:solidFill>
                <a:latin typeface="Aptos"/>
              </a:rPr>
              <a:t>Evidence quality</a:t>
            </a:r>
          </a:p>
        </p:txBody>
      </p:sp>
      <p:sp>
        <p:nvSpPr>
          <p:cNvPr id="15" name="TextBox 14"/>
          <p:cNvSpPr txBox="1"/>
          <p:nvPr/>
        </p:nvSpPr>
        <p:spPr>
          <a:xfrm>
            <a:off x="4709160" y="2450591"/>
            <a:ext cx="2761488" cy="530352"/>
          </a:xfrm>
          <a:prstGeom prst="rect">
            <a:avLst/>
          </a:prstGeom>
          <a:noFill/>
        </p:spPr>
        <p:txBody>
          <a:bodyPr wrap="square" lIns="36576" tIns="36576" rIns="36576" bIns="36576" anchor="t">
            <a:spAutoFit/>
          </a:bodyPr>
          <a:lstStyle/>
          <a:p>
            <a:pPr algn="l"/>
            <a:r>
              <a:rPr sz="1040" b="0">
                <a:solidFill>
                  <a:srgbClr val="58657A"/>
                </a:solidFill>
                <a:latin typeface="Aptos"/>
              </a:rPr>
              <a:t>Add retrieval benchmarks, provenance, source ownership, and adversarial fixtures.</a:t>
            </a:r>
          </a:p>
        </p:txBody>
      </p:sp>
      <p:sp>
        <p:nvSpPr>
          <p:cNvPr id="16" name="Rounded Rectangle 15"/>
          <p:cNvSpPr/>
          <p:nvPr/>
        </p:nvSpPr>
        <p:spPr>
          <a:xfrm>
            <a:off x="8275320" y="1737360"/>
            <a:ext cx="3246120" cy="150876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503920" y="1965960"/>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0" y="1984248"/>
            <a:ext cx="384048" cy="365759"/>
          </a:xfrm>
          <a:prstGeom prst="rect">
            <a:avLst/>
          </a:prstGeom>
          <a:noFill/>
        </p:spPr>
        <p:txBody>
          <a:bodyPr wrap="square" lIns="36576" tIns="36576" rIns="36576" bIns="36576" anchor="ctr">
            <a:spAutoFit/>
          </a:bodyPr>
          <a:lstStyle/>
          <a:p>
            <a:pPr algn="ctr"/>
            <a:r>
              <a:rPr sz="1000" b="1">
                <a:solidFill>
                  <a:srgbClr val="FFFFFF"/>
                </a:solidFill>
                <a:latin typeface="Aptos"/>
              </a:rPr>
              <a:t>3</a:t>
            </a:r>
          </a:p>
        </p:txBody>
      </p:sp>
      <p:sp>
        <p:nvSpPr>
          <p:cNvPr id="19" name="TextBox 18"/>
          <p:cNvSpPr txBox="1"/>
          <p:nvPr/>
        </p:nvSpPr>
        <p:spPr>
          <a:xfrm>
            <a:off x="9025128" y="1965960"/>
            <a:ext cx="2240280" cy="256032"/>
          </a:xfrm>
          <a:prstGeom prst="rect">
            <a:avLst/>
          </a:prstGeom>
          <a:noFill/>
        </p:spPr>
        <p:txBody>
          <a:bodyPr wrap="square" lIns="36576" tIns="36576" rIns="36576" bIns="36576" anchor="t">
            <a:spAutoFit/>
          </a:bodyPr>
          <a:lstStyle/>
          <a:p>
            <a:pPr algn="l"/>
            <a:r>
              <a:rPr sz="1400" b="1">
                <a:solidFill>
                  <a:srgbClr val="161E2D"/>
                </a:solidFill>
                <a:latin typeface="Aptos"/>
              </a:rPr>
              <a:t>Scale</a:t>
            </a:r>
          </a:p>
        </p:txBody>
      </p:sp>
      <p:sp>
        <p:nvSpPr>
          <p:cNvPr id="20" name="TextBox 19"/>
          <p:cNvSpPr txBox="1"/>
          <p:nvPr/>
        </p:nvSpPr>
        <p:spPr>
          <a:xfrm>
            <a:off x="8503920" y="2450591"/>
            <a:ext cx="2761488" cy="530352"/>
          </a:xfrm>
          <a:prstGeom prst="rect">
            <a:avLst/>
          </a:prstGeom>
          <a:noFill/>
        </p:spPr>
        <p:txBody>
          <a:bodyPr wrap="square" lIns="36576" tIns="36576" rIns="36576" bIns="36576" anchor="t">
            <a:spAutoFit/>
          </a:bodyPr>
          <a:lstStyle/>
          <a:p>
            <a:pPr algn="l"/>
            <a:r>
              <a:rPr sz="1040" b="0">
                <a:solidFill>
                  <a:srgbClr val="58657A"/>
                </a:solidFill>
                <a:latin typeface="Aptos"/>
              </a:rPr>
              <a:t>Move from relative SQLite files to managed storage and bounded async provider I/O.</a:t>
            </a:r>
          </a:p>
        </p:txBody>
      </p:sp>
      <p:sp>
        <p:nvSpPr>
          <p:cNvPr id="21" name="Rounded Rectangle 20"/>
          <p:cNvSpPr/>
          <p:nvPr/>
        </p:nvSpPr>
        <p:spPr>
          <a:xfrm>
            <a:off x="685800" y="3794760"/>
            <a:ext cx="3246120" cy="150876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14400" y="4023360"/>
            <a:ext cx="384048" cy="384048"/>
          </a:xfrm>
          <a:prstGeom prst="ellipse">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041648"/>
            <a:ext cx="384048" cy="365759"/>
          </a:xfrm>
          <a:prstGeom prst="rect">
            <a:avLst/>
          </a:prstGeom>
          <a:noFill/>
        </p:spPr>
        <p:txBody>
          <a:bodyPr wrap="square" lIns="36576" tIns="36576" rIns="36576" bIns="36576" anchor="ctr">
            <a:spAutoFit/>
          </a:bodyPr>
          <a:lstStyle/>
          <a:p>
            <a:pPr algn="ctr"/>
            <a:r>
              <a:rPr sz="1000" b="1">
                <a:solidFill>
                  <a:srgbClr val="FFFFFF"/>
                </a:solidFill>
                <a:latin typeface="Aptos"/>
              </a:rPr>
              <a:t>4</a:t>
            </a:r>
          </a:p>
        </p:txBody>
      </p:sp>
      <p:sp>
        <p:nvSpPr>
          <p:cNvPr id="24" name="TextBox 23"/>
          <p:cNvSpPr txBox="1"/>
          <p:nvPr/>
        </p:nvSpPr>
        <p:spPr>
          <a:xfrm>
            <a:off x="1435607" y="4023360"/>
            <a:ext cx="2240280" cy="256032"/>
          </a:xfrm>
          <a:prstGeom prst="rect">
            <a:avLst/>
          </a:prstGeom>
          <a:noFill/>
        </p:spPr>
        <p:txBody>
          <a:bodyPr wrap="square" lIns="36576" tIns="36576" rIns="36576" bIns="36576" anchor="t">
            <a:spAutoFit/>
          </a:bodyPr>
          <a:lstStyle/>
          <a:p>
            <a:pPr algn="l"/>
            <a:r>
              <a:rPr sz="1400" b="1">
                <a:solidFill>
                  <a:srgbClr val="161E2D"/>
                </a:solidFill>
                <a:latin typeface="Aptos"/>
              </a:rPr>
              <a:t>Reach</a:t>
            </a:r>
          </a:p>
        </p:txBody>
      </p:sp>
      <p:sp>
        <p:nvSpPr>
          <p:cNvPr id="25" name="TextBox 24"/>
          <p:cNvSpPr txBox="1"/>
          <p:nvPr/>
        </p:nvSpPr>
        <p:spPr>
          <a:xfrm>
            <a:off x="914400" y="4507992"/>
            <a:ext cx="2761488" cy="530352"/>
          </a:xfrm>
          <a:prstGeom prst="rect">
            <a:avLst/>
          </a:prstGeom>
          <a:noFill/>
        </p:spPr>
        <p:txBody>
          <a:bodyPr wrap="square" lIns="36576" tIns="36576" rIns="36576" bIns="36576" anchor="t">
            <a:spAutoFit/>
          </a:bodyPr>
          <a:lstStyle/>
          <a:p>
            <a:pPr algn="l"/>
            <a:r>
              <a:rPr sz="1040" b="0">
                <a:solidFill>
                  <a:srgbClr val="58657A"/>
                </a:solidFill>
                <a:latin typeface="Aptos"/>
              </a:rPr>
              <a:t>Multilingual claims, browser extension, mobile client, and real-time progress.</a:t>
            </a:r>
          </a:p>
        </p:txBody>
      </p:sp>
      <p:sp>
        <p:nvSpPr>
          <p:cNvPr id="26" name="Rounded Rectangle 25"/>
          <p:cNvSpPr/>
          <p:nvPr/>
        </p:nvSpPr>
        <p:spPr>
          <a:xfrm>
            <a:off x="4480560" y="3794760"/>
            <a:ext cx="3246120" cy="150876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709160" y="4023360"/>
            <a:ext cx="384048" cy="384048"/>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09160" y="4041648"/>
            <a:ext cx="384048" cy="365759"/>
          </a:xfrm>
          <a:prstGeom prst="rect">
            <a:avLst/>
          </a:prstGeom>
          <a:noFill/>
        </p:spPr>
        <p:txBody>
          <a:bodyPr wrap="square" lIns="36576" tIns="36576" rIns="36576" bIns="36576" anchor="ctr">
            <a:spAutoFit/>
          </a:bodyPr>
          <a:lstStyle/>
          <a:p>
            <a:pPr algn="ctr"/>
            <a:r>
              <a:rPr sz="1000" b="1">
                <a:solidFill>
                  <a:srgbClr val="FFFFFF"/>
                </a:solidFill>
                <a:latin typeface="Aptos"/>
              </a:rPr>
              <a:t>5</a:t>
            </a:r>
          </a:p>
        </p:txBody>
      </p:sp>
      <p:sp>
        <p:nvSpPr>
          <p:cNvPr id="29" name="TextBox 28"/>
          <p:cNvSpPr txBox="1"/>
          <p:nvPr/>
        </p:nvSpPr>
        <p:spPr>
          <a:xfrm>
            <a:off x="5230368" y="4023360"/>
            <a:ext cx="2240280" cy="256032"/>
          </a:xfrm>
          <a:prstGeom prst="rect">
            <a:avLst/>
          </a:prstGeom>
          <a:noFill/>
        </p:spPr>
        <p:txBody>
          <a:bodyPr wrap="square" lIns="36576" tIns="36576" rIns="36576" bIns="36576" anchor="t">
            <a:spAutoFit/>
          </a:bodyPr>
          <a:lstStyle/>
          <a:p>
            <a:pPr algn="l"/>
            <a:r>
              <a:rPr sz="1400" b="1">
                <a:solidFill>
                  <a:srgbClr val="161E2D"/>
                </a:solidFill>
                <a:latin typeface="Aptos"/>
              </a:rPr>
              <a:t>Knowledge</a:t>
            </a:r>
          </a:p>
        </p:txBody>
      </p:sp>
      <p:sp>
        <p:nvSpPr>
          <p:cNvPr id="30" name="TextBox 29"/>
          <p:cNvSpPr txBox="1"/>
          <p:nvPr/>
        </p:nvSpPr>
        <p:spPr>
          <a:xfrm>
            <a:off x="4709160" y="4507992"/>
            <a:ext cx="2761488" cy="530352"/>
          </a:xfrm>
          <a:prstGeom prst="rect">
            <a:avLst/>
          </a:prstGeom>
          <a:noFill/>
        </p:spPr>
        <p:txBody>
          <a:bodyPr wrap="square" lIns="36576" tIns="36576" rIns="36576" bIns="36576" anchor="t">
            <a:spAutoFit/>
          </a:bodyPr>
          <a:lstStyle/>
          <a:p>
            <a:pPr algn="l"/>
            <a:r>
              <a:rPr sz="1040" b="0">
                <a:solidFill>
                  <a:srgbClr val="58657A"/>
                </a:solidFill>
                <a:latin typeface="Aptos"/>
              </a:rPr>
              <a:t>Revisit FAISS/Neo4j as explicit supported products rather than dormant paths.</a:t>
            </a:r>
          </a:p>
        </p:txBody>
      </p:sp>
      <p:sp>
        <p:nvSpPr>
          <p:cNvPr id="31" name="Rounded Rectangle 30"/>
          <p:cNvSpPr/>
          <p:nvPr/>
        </p:nvSpPr>
        <p:spPr>
          <a:xfrm>
            <a:off x="8275320" y="3794760"/>
            <a:ext cx="3246120" cy="1508760"/>
          </a:xfrm>
          <a:prstGeom prst="roundRect">
            <a:avLst/>
          </a:prstGeom>
          <a:solidFill>
            <a:srgbClr val="FFFFFF"/>
          </a:solidFill>
          <a:ln w="8890">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503920" y="4023360"/>
            <a:ext cx="384048" cy="38404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03920" y="4041648"/>
            <a:ext cx="384048" cy="365759"/>
          </a:xfrm>
          <a:prstGeom prst="rect">
            <a:avLst/>
          </a:prstGeom>
          <a:noFill/>
        </p:spPr>
        <p:txBody>
          <a:bodyPr wrap="square" lIns="36576" tIns="36576" rIns="36576" bIns="36576" anchor="ctr">
            <a:spAutoFit/>
          </a:bodyPr>
          <a:lstStyle/>
          <a:p>
            <a:pPr algn="ctr"/>
            <a:r>
              <a:rPr sz="1000" b="1">
                <a:solidFill>
                  <a:srgbClr val="FFFFFF"/>
                </a:solidFill>
                <a:latin typeface="Aptos"/>
              </a:rPr>
              <a:t>6</a:t>
            </a:r>
          </a:p>
        </p:txBody>
      </p:sp>
      <p:sp>
        <p:nvSpPr>
          <p:cNvPr id="34" name="TextBox 33"/>
          <p:cNvSpPr txBox="1"/>
          <p:nvPr/>
        </p:nvSpPr>
        <p:spPr>
          <a:xfrm>
            <a:off x="9025128" y="4023360"/>
            <a:ext cx="2240280" cy="256032"/>
          </a:xfrm>
          <a:prstGeom prst="rect">
            <a:avLst/>
          </a:prstGeom>
          <a:noFill/>
        </p:spPr>
        <p:txBody>
          <a:bodyPr wrap="square" lIns="36576" tIns="36576" rIns="36576" bIns="36576" anchor="t">
            <a:spAutoFit/>
          </a:bodyPr>
          <a:lstStyle/>
          <a:p>
            <a:pPr algn="l"/>
            <a:r>
              <a:rPr sz="1400" b="1">
                <a:solidFill>
                  <a:srgbClr val="161E2D"/>
                </a:solidFill>
                <a:latin typeface="Aptos"/>
              </a:rPr>
              <a:t>Deployment</a:t>
            </a:r>
          </a:p>
        </p:txBody>
      </p:sp>
      <p:sp>
        <p:nvSpPr>
          <p:cNvPr id="35" name="TextBox 34"/>
          <p:cNvSpPr txBox="1"/>
          <p:nvPr/>
        </p:nvSpPr>
        <p:spPr>
          <a:xfrm>
            <a:off x="8503920" y="4507992"/>
            <a:ext cx="2761488" cy="530352"/>
          </a:xfrm>
          <a:prstGeom prst="rect">
            <a:avLst/>
          </a:prstGeom>
          <a:noFill/>
        </p:spPr>
        <p:txBody>
          <a:bodyPr wrap="square" lIns="36576" tIns="36576" rIns="36576" bIns="36576" anchor="t">
            <a:spAutoFit/>
          </a:bodyPr>
          <a:lstStyle/>
          <a:p>
            <a:pPr algn="l"/>
            <a:r>
              <a:rPr sz="1040" b="0">
                <a:solidFill>
                  <a:srgbClr val="58657A"/>
                </a:solidFill>
                <a:latin typeface="Aptos"/>
              </a:rPr>
              <a:t>Add an active, tested production container/deployment configuration.</a:t>
            </a:r>
          </a:p>
        </p:txBody>
      </p:sp>
      <p:sp>
        <p:nvSpPr>
          <p:cNvPr id="36" name="TextBox 35"/>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58657A"/>
                </a:solidFill>
                <a:latin typeface="Aptos"/>
              </a:rPr>
              <a:t>GENESIS  /  AI-POWERED CLAIM VERIFICATION</a:t>
            </a:r>
          </a:p>
        </p:txBody>
      </p:sp>
      <p:sp>
        <p:nvSpPr>
          <p:cNvPr id="37" name="TextBox 36"/>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58657A"/>
                </a:solidFill>
                <a:latin typeface="Aptos"/>
              </a:rP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40080"/>
            <a:ext cx="3840480" cy="274320"/>
          </a:xfrm>
          <a:prstGeom prst="rect">
            <a:avLst/>
          </a:prstGeom>
          <a:noFill/>
        </p:spPr>
        <p:txBody>
          <a:bodyPr wrap="square" lIns="36576" tIns="36576" rIns="36576" bIns="36576" anchor="t">
            <a:spAutoFit/>
          </a:bodyPr>
          <a:lstStyle/>
          <a:p>
            <a:pPr algn="l"/>
            <a:r>
              <a:rPr sz="1200" b="1">
                <a:solidFill>
                  <a:srgbClr val="D4A017"/>
                </a:solidFill>
                <a:latin typeface="Aptos"/>
              </a:rPr>
              <a:t>GENESIS</a:t>
            </a:r>
          </a:p>
        </p:txBody>
      </p:sp>
      <p:sp>
        <p:nvSpPr>
          <p:cNvPr id="4" name="TextBox 3"/>
          <p:cNvSpPr txBox="1"/>
          <p:nvPr/>
        </p:nvSpPr>
        <p:spPr>
          <a:xfrm>
            <a:off x="685800" y="1234440"/>
            <a:ext cx="7498079" cy="685800"/>
          </a:xfrm>
          <a:prstGeom prst="rect">
            <a:avLst/>
          </a:prstGeom>
          <a:noFill/>
        </p:spPr>
        <p:txBody>
          <a:bodyPr wrap="square" lIns="36576" tIns="36576" rIns="36576" bIns="36576" anchor="t">
            <a:spAutoFit/>
          </a:bodyPr>
          <a:lstStyle/>
          <a:p>
            <a:pPr algn="l"/>
            <a:r>
              <a:rPr sz="3400" b="1">
                <a:solidFill>
                  <a:srgbClr val="FFFFFF"/>
                </a:solidFill>
                <a:latin typeface="Aptos Display"/>
              </a:rPr>
              <a:t>Make verification
inspectable.</a:t>
            </a:r>
          </a:p>
        </p:txBody>
      </p:sp>
      <p:sp>
        <p:nvSpPr>
          <p:cNvPr id="5" name="TextBox 4"/>
          <p:cNvSpPr txBox="1"/>
          <p:nvPr/>
        </p:nvSpPr>
        <p:spPr>
          <a:xfrm>
            <a:off x="713232" y="2743200"/>
            <a:ext cx="5577840" cy="548640"/>
          </a:xfrm>
          <a:prstGeom prst="rect">
            <a:avLst/>
          </a:prstGeom>
          <a:noFill/>
        </p:spPr>
        <p:txBody>
          <a:bodyPr wrap="square" lIns="36576" tIns="36576" rIns="36576" bIns="36576" anchor="t">
            <a:spAutoFit/>
          </a:bodyPr>
          <a:lstStyle/>
          <a:p>
            <a:pPr algn="l"/>
            <a:r>
              <a:rPr sz="1600" b="0">
                <a:solidFill>
                  <a:srgbClr val="CDD8E8"/>
                </a:solidFill>
                <a:latin typeface="Aptos"/>
              </a:rPr>
              <a:t>A full-stack system that connects claim input, retrieval, local ML, structured reasoning, and explainable output.</a:t>
            </a:r>
          </a:p>
        </p:txBody>
      </p:sp>
      <p:sp>
        <p:nvSpPr>
          <p:cNvPr id="6" name="Rounded Rectangle 5"/>
          <p:cNvSpPr/>
          <p:nvPr/>
        </p:nvSpPr>
        <p:spPr>
          <a:xfrm>
            <a:off x="713232" y="4069080"/>
            <a:ext cx="2926080" cy="1005840"/>
          </a:xfrm>
          <a:prstGeom prst="roundRect">
            <a:avLst/>
          </a:prstGeom>
          <a:solidFill>
            <a:srgbClr val="18243D"/>
          </a:solidFill>
          <a:ln w="8890">
            <a:solidFill>
              <a:srgbClr val="465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4279392"/>
            <a:ext cx="2514600" cy="201168"/>
          </a:xfrm>
          <a:prstGeom prst="rect">
            <a:avLst/>
          </a:prstGeom>
          <a:noFill/>
        </p:spPr>
        <p:txBody>
          <a:bodyPr wrap="square" lIns="36576" tIns="36576" rIns="36576" bIns="36576" anchor="t">
            <a:spAutoFit/>
          </a:bodyPr>
          <a:lstStyle/>
          <a:p>
            <a:pPr algn="l"/>
            <a:r>
              <a:rPr sz="1100" b="1">
                <a:solidFill>
                  <a:srgbClr val="2563EB"/>
                </a:solidFill>
                <a:latin typeface="Aptos"/>
              </a:rPr>
              <a:t>Problem</a:t>
            </a:r>
          </a:p>
        </p:txBody>
      </p:sp>
      <p:sp>
        <p:nvSpPr>
          <p:cNvPr id="8" name="TextBox 7"/>
          <p:cNvSpPr txBox="1"/>
          <p:nvPr/>
        </p:nvSpPr>
        <p:spPr>
          <a:xfrm>
            <a:off x="877824" y="4617720"/>
            <a:ext cx="2514600" cy="256032"/>
          </a:xfrm>
          <a:prstGeom prst="rect">
            <a:avLst/>
          </a:prstGeom>
          <a:noFill/>
        </p:spPr>
        <p:txBody>
          <a:bodyPr wrap="square" lIns="36576" tIns="36576" rIns="36576" bIns="36576" anchor="t">
            <a:spAutoFit/>
          </a:bodyPr>
          <a:lstStyle/>
          <a:p>
            <a:pPr algn="l"/>
            <a:r>
              <a:rPr sz="1100" b="0">
                <a:solidFill>
                  <a:srgbClr val="FFFFFF"/>
                </a:solidFill>
                <a:latin typeface="Aptos"/>
              </a:rPr>
              <a:t>Misinformation moves fast.</a:t>
            </a:r>
          </a:p>
        </p:txBody>
      </p:sp>
      <p:sp>
        <p:nvSpPr>
          <p:cNvPr id="9" name="Rounded Rectangle 8"/>
          <p:cNvSpPr/>
          <p:nvPr/>
        </p:nvSpPr>
        <p:spPr>
          <a:xfrm>
            <a:off x="4233672" y="4069080"/>
            <a:ext cx="2926080" cy="1005840"/>
          </a:xfrm>
          <a:prstGeom prst="roundRect">
            <a:avLst/>
          </a:prstGeom>
          <a:solidFill>
            <a:srgbClr val="18243D"/>
          </a:solidFill>
          <a:ln w="8890">
            <a:solidFill>
              <a:srgbClr val="465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98264" y="4279392"/>
            <a:ext cx="2514600" cy="201168"/>
          </a:xfrm>
          <a:prstGeom prst="rect">
            <a:avLst/>
          </a:prstGeom>
          <a:noFill/>
        </p:spPr>
        <p:txBody>
          <a:bodyPr wrap="square" lIns="36576" tIns="36576" rIns="36576" bIns="36576" anchor="t">
            <a:spAutoFit/>
          </a:bodyPr>
          <a:lstStyle/>
          <a:p>
            <a:pPr algn="l"/>
            <a:r>
              <a:rPr sz="1100" b="1">
                <a:solidFill>
                  <a:srgbClr val="4F46E5"/>
                </a:solidFill>
                <a:latin typeface="Aptos"/>
              </a:rPr>
              <a:t>Solution</a:t>
            </a:r>
          </a:p>
        </p:txBody>
      </p:sp>
      <p:sp>
        <p:nvSpPr>
          <p:cNvPr id="11" name="TextBox 10"/>
          <p:cNvSpPr txBox="1"/>
          <p:nvPr/>
        </p:nvSpPr>
        <p:spPr>
          <a:xfrm>
            <a:off x="4398264" y="4617720"/>
            <a:ext cx="2514600" cy="256032"/>
          </a:xfrm>
          <a:prstGeom prst="rect">
            <a:avLst/>
          </a:prstGeom>
          <a:noFill/>
        </p:spPr>
        <p:txBody>
          <a:bodyPr wrap="square" lIns="36576" tIns="36576" rIns="36576" bIns="36576" anchor="t">
            <a:spAutoFit/>
          </a:bodyPr>
          <a:lstStyle/>
          <a:p>
            <a:pPr algn="l"/>
            <a:r>
              <a:rPr sz="1100" b="0">
                <a:solidFill>
                  <a:srgbClr val="FFFFFF"/>
                </a:solidFill>
                <a:latin typeface="Aptos"/>
              </a:rPr>
              <a:t>Evidence + reasoning in one workflow.</a:t>
            </a:r>
          </a:p>
        </p:txBody>
      </p:sp>
      <p:sp>
        <p:nvSpPr>
          <p:cNvPr id="12" name="Rounded Rectangle 11"/>
          <p:cNvSpPr/>
          <p:nvPr/>
        </p:nvSpPr>
        <p:spPr>
          <a:xfrm>
            <a:off x="7754112" y="4069080"/>
            <a:ext cx="2926080" cy="1005840"/>
          </a:xfrm>
          <a:prstGeom prst="roundRect">
            <a:avLst/>
          </a:prstGeom>
          <a:solidFill>
            <a:srgbClr val="18243D"/>
          </a:solidFill>
          <a:ln w="8890">
            <a:solidFill>
              <a:srgbClr val="465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18704" y="4279392"/>
            <a:ext cx="2514600" cy="201168"/>
          </a:xfrm>
          <a:prstGeom prst="rect">
            <a:avLst/>
          </a:prstGeom>
          <a:noFill/>
        </p:spPr>
        <p:txBody>
          <a:bodyPr wrap="square" lIns="36576" tIns="36576" rIns="36576" bIns="36576" anchor="t">
            <a:spAutoFit/>
          </a:bodyPr>
          <a:lstStyle/>
          <a:p>
            <a:pPr algn="l"/>
            <a:r>
              <a:rPr sz="1100" b="1">
                <a:solidFill>
                  <a:srgbClr val="D4A017"/>
                </a:solidFill>
                <a:latin typeface="Aptos"/>
              </a:rPr>
              <a:t>Impact</a:t>
            </a:r>
          </a:p>
        </p:txBody>
      </p:sp>
      <p:sp>
        <p:nvSpPr>
          <p:cNvPr id="14" name="TextBox 13"/>
          <p:cNvSpPr txBox="1"/>
          <p:nvPr/>
        </p:nvSpPr>
        <p:spPr>
          <a:xfrm>
            <a:off x="7918704" y="4617720"/>
            <a:ext cx="2514600" cy="256032"/>
          </a:xfrm>
          <a:prstGeom prst="rect">
            <a:avLst/>
          </a:prstGeom>
          <a:noFill/>
        </p:spPr>
        <p:txBody>
          <a:bodyPr wrap="square" lIns="36576" tIns="36576" rIns="36576" bIns="36576" anchor="t">
            <a:spAutoFit/>
          </a:bodyPr>
          <a:lstStyle/>
          <a:p>
            <a:pPr algn="l"/>
            <a:r>
              <a:rPr sz="1100" b="0">
                <a:solidFill>
                  <a:srgbClr val="FFFFFF"/>
                </a:solidFill>
                <a:latin typeface="Aptos"/>
              </a:rPr>
              <a:t>A clearer path from claim to confidence.</a:t>
            </a:r>
          </a:p>
        </p:txBody>
      </p:sp>
      <p:sp>
        <p:nvSpPr>
          <p:cNvPr id="15" name="TextBox 14"/>
          <p:cNvSpPr txBox="1"/>
          <p:nvPr/>
        </p:nvSpPr>
        <p:spPr>
          <a:xfrm>
            <a:off x="713232" y="5897880"/>
            <a:ext cx="5486400" cy="366254"/>
          </a:xfrm>
          <a:prstGeom prst="rect">
            <a:avLst/>
          </a:prstGeom>
          <a:noFill/>
        </p:spPr>
        <p:txBody>
          <a:bodyPr wrap="square" lIns="36576" tIns="36576" rIns="36576" bIns="36576" anchor="t">
            <a:spAutoFit/>
          </a:bodyPr>
          <a:lstStyle/>
          <a:p>
            <a:pPr algn="l"/>
            <a:r>
              <a:rPr sz="1900" b="1" dirty="0">
                <a:solidFill>
                  <a:srgbClr val="FFFFFF"/>
                </a:solidFill>
                <a:latin typeface="Aptos Display"/>
              </a:rPr>
              <a:t>Thank you </a:t>
            </a:r>
          </a:p>
        </p:txBody>
      </p:sp>
      <p:sp>
        <p:nvSpPr>
          <p:cNvPr id="16" name="TextBox 15"/>
          <p:cNvSpPr txBox="1"/>
          <p:nvPr/>
        </p:nvSpPr>
        <p:spPr>
          <a:xfrm>
            <a:off x="8275320" y="5907024"/>
            <a:ext cx="3017520" cy="228600"/>
          </a:xfrm>
          <a:prstGeom prst="rect">
            <a:avLst/>
          </a:prstGeom>
          <a:noFill/>
        </p:spPr>
        <p:txBody>
          <a:bodyPr wrap="square" lIns="36576" tIns="36576" rIns="36576" bIns="36576" anchor="t">
            <a:spAutoFit/>
          </a:bodyPr>
          <a:lstStyle/>
          <a:p>
            <a:pPr algn="r"/>
            <a:r>
              <a:rPr sz="1000" b="0">
                <a:solidFill>
                  <a:srgbClr val="AABAD2"/>
                </a:solidFill>
                <a:latin typeface="Aptos"/>
              </a:rPr>
              <a:t>Genesis • github repository</a:t>
            </a:r>
          </a:p>
        </p:txBody>
      </p:sp>
      <p:sp>
        <p:nvSpPr>
          <p:cNvPr id="17" name="TextBox 16"/>
          <p:cNvSpPr txBox="1"/>
          <p:nvPr/>
        </p:nvSpPr>
        <p:spPr>
          <a:xfrm>
            <a:off x="612648" y="6510528"/>
            <a:ext cx="4114800" cy="164592"/>
          </a:xfrm>
          <a:prstGeom prst="rect">
            <a:avLst/>
          </a:prstGeom>
          <a:noFill/>
        </p:spPr>
        <p:txBody>
          <a:bodyPr wrap="square" lIns="36576" tIns="36576" rIns="36576" bIns="36576" anchor="t">
            <a:spAutoFit/>
          </a:bodyPr>
          <a:lstStyle/>
          <a:p>
            <a:pPr algn="l"/>
            <a:r>
              <a:rPr sz="800" b="1">
                <a:solidFill>
                  <a:srgbClr val="B4BECD"/>
                </a:solidFill>
                <a:latin typeface="Aptos"/>
              </a:rPr>
              <a:t>GENESIS  /  AI-POWERED CLAIM VERIFICATION</a:t>
            </a:r>
          </a:p>
        </p:txBody>
      </p:sp>
      <p:sp>
        <p:nvSpPr>
          <p:cNvPr id="18" name="TextBox 17"/>
          <p:cNvSpPr txBox="1"/>
          <p:nvPr/>
        </p:nvSpPr>
        <p:spPr>
          <a:xfrm>
            <a:off x="11018520" y="6510528"/>
            <a:ext cx="548640" cy="164592"/>
          </a:xfrm>
          <a:prstGeom prst="rect">
            <a:avLst/>
          </a:prstGeom>
          <a:noFill/>
        </p:spPr>
        <p:txBody>
          <a:bodyPr wrap="square" lIns="36576" tIns="36576" rIns="36576" bIns="36576" anchor="t">
            <a:spAutoFit/>
          </a:bodyPr>
          <a:lstStyle/>
          <a:p>
            <a:pPr algn="r"/>
            <a:r>
              <a:rPr sz="800" b="1">
                <a:solidFill>
                  <a:srgbClr val="B4BECD"/>
                </a:solidFill>
                <a:latin typeface="Apto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2331</Words>
  <Application>Microsoft Office PowerPoint</Application>
  <PresentationFormat>Widescreen</PresentationFormat>
  <Paragraphs>290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Abie Aaron</cp:lastModifiedBy>
  <cp:revision>2</cp:revision>
  <dcterms:created xsi:type="dcterms:W3CDTF">2013-01-27T09:14:16Z</dcterms:created>
  <dcterms:modified xsi:type="dcterms:W3CDTF">2026-10-28T05:31:51Z</dcterms:modified>
  <cp:category/>
</cp:coreProperties>
</file>